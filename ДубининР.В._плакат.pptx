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5"/>
  </p:notesMasterIdLst>
  <p:sldIdLst>
    <p:sldId id="256" r:id="rId3"/>
    <p:sldId id="258" r:id="rId4"/>
  </p:sldIdLst>
  <p:sldSz cx="32759650" cy="50039588"/>
  <p:notesSz cx="6858000" cy="9144000"/>
  <p:defaultTextStyle>
    <a:defPPr>
      <a:defRPr lang="ru-RU"/>
    </a:defPPr>
    <a:lvl1pPr marL="0" algn="l" defTabSz="3974348" rtl="0" eaLnBrk="1" latinLnBrk="0" hangingPunct="1">
      <a:defRPr sz="7824" kern="1200">
        <a:solidFill>
          <a:schemeClr val="tx1"/>
        </a:solidFill>
        <a:latin typeface="+mn-lt"/>
        <a:ea typeface="+mn-ea"/>
        <a:cs typeface="+mn-cs"/>
      </a:defRPr>
    </a:lvl1pPr>
    <a:lvl2pPr marL="1987174" algn="l" defTabSz="3974348" rtl="0" eaLnBrk="1" latinLnBrk="0" hangingPunct="1">
      <a:defRPr sz="7824" kern="1200">
        <a:solidFill>
          <a:schemeClr val="tx1"/>
        </a:solidFill>
        <a:latin typeface="+mn-lt"/>
        <a:ea typeface="+mn-ea"/>
        <a:cs typeface="+mn-cs"/>
      </a:defRPr>
    </a:lvl2pPr>
    <a:lvl3pPr marL="3974348" algn="l" defTabSz="3974348" rtl="0" eaLnBrk="1" latinLnBrk="0" hangingPunct="1">
      <a:defRPr sz="7824" kern="1200">
        <a:solidFill>
          <a:schemeClr val="tx1"/>
        </a:solidFill>
        <a:latin typeface="+mn-lt"/>
        <a:ea typeface="+mn-ea"/>
        <a:cs typeface="+mn-cs"/>
      </a:defRPr>
    </a:lvl3pPr>
    <a:lvl4pPr marL="5961522" algn="l" defTabSz="3974348" rtl="0" eaLnBrk="1" latinLnBrk="0" hangingPunct="1">
      <a:defRPr sz="7824" kern="1200">
        <a:solidFill>
          <a:schemeClr val="tx1"/>
        </a:solidFill>
        <a:latin typeface="+mn-lt"/>
        <a:ea typeface="+mn-ea"/>
        <a:cs typeface="+mn-cs"/>
      </a:defRPr>
    </a:lvl4pPr>
    <a:lvl5pPr marL="7948696" algn="l" defTabSz="3974348" rtl="0" eaLnBrk="1" latinLnBrk="0" hangingPunct="1">
      <a:defRPr sz="7824" kern="1200">
        <a:solidFill>
          <a:schemeClr val="tx1"/>
        </a:solidFill>
        <a:latin typeface="+mn-lt"/>
        <a:ea typeface="+mn-ea"/>
        <a:cs typeface="+mn-cs"/>
      </a:defRPr>
    </a:lvl5pPr>
    <a:lvl6pPr marL="9935870" algn="l" defTabSz="3974348" rtl="0" eaLnBrk="1" latinLnBrk="0" hangingPunct="1">
      <a:defRPr sz="7824" kern="1200">
        <a:solidFill>
          <a:schemeClr val="tx1"/>
        </a:solidFill>
        <a:latin typeface="+mn-lt"/>
        <a:ea typeface="+mn-ea"/>
        <a:cs typeface="+mn-cs"/>
      </a:defRPr>
    </a:lvl6pPr>
    <a:lvl7pPr marL="11923044" algn="l" defTabSz="3974348" rtl="0" eaLnBrk="1" latinLnBrk="0" hangingPunct="1">
      <a:defRPr sz="7824" kern="1200">
        <a:solidFill>
          <a:schemeClr val="tx1"/>
        </a:solidFill>
        <a:latin typeface="+mn-lt"/>
        <a:ea typeface="+mn-ea"/>
        <a:cs typeface="+mn-cs"/>
      </a:defRPr>
    </a:lvl7pPr>
    <a:lvl8pPr marL="13910219" algn="l" defTabSz="3974348" rtl="0" eaLnBrk="1" latinLnBrk="0" hangingPunct="1">
      <a:defRPr sz="7824" kern="1200">
        <a:solidFill>
          <a:schemeClr val="tx1"/>
        </a:solidFill>
        <a:latin typeface="+mn-lt"/>
        <a:ea typeface="+mn-ea"/>
        <a:cs typeface="+mn-cs"/>
      </a:defRPr>
    </a:lvl8pPr>
    <a:lvl9pPr marL="15897393" algn="l" defTabSz="3974348" rtl="0" eaLnBrk="1" latinLnBrk="0" hangingPunct="1">
      <a:defRPr sz="782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60" userDrawn="1">
          <p15:clr>
            <a:srgbClr val="A4A3A4"/>
          </p15:clr>
        </p15:guide>
        <p15:guide id="2" pos="103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A570"/>
    <a:srgbClr val="FFF2CC"/>
    <a:srgbClr val="FFD966"/>
    <a:srgbClr val="DD6F52"/>
    <a:srgbClr val="87A771"/>
    <a:srgbClr val="A87163"/>
    <a:srgbClr val="548235"/>
    <a:srgbClr val="7030A0"/>
    <a:srgbClr val="ED2F2F"/>
    <a:srgbClr val="CE32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88954" autoAdjust="0"/>
  </p:normalViewPr>
  <p:slideViewPr>
    <p:cSldViewPr snapToGrid="0">
      <p:cViewPr>
        <p:scale>
          <a:sx n="50" d="100"/>
          <a:sy n="50" d="100"/>
        </p:scale>
        <p:origin x="-1074" y="-11178"/>
      </p:cViewPr>
      <p:guideLst>
        <p:guide orient="horz" pos="15760"/>
        <p:guide pos="103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man\Desktop\&#1056;&#1072;&#1073;&#1086;&#1095;&#1080;&#1081;%20&#1089;&#1090;&#1086;&#1083;\&#1043;&#1086;&#1088;&#1086;&#1076;&#1072;%20&#1072;&#1075;&#1083;&#1086;&#1084;&#1077;&#1088;&#1072;&#1094;&#1080;&#1080;(&#1040;&#1074;&#1090;&#1086;&#1084;&#1072;&#1090;&#1080;&#1095;&#1077;&#1089;&#1082;&#1080;&#1042;&#1086;&#1089;&#1089;&#1090;&#1072;&#1085;&#1086;&#1074;&#1083;&#1077;&#1085;&#1086;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man\Desktop\&#1056;&#1072;&#1073;&#1086;&#1095;&#1080;&#1081;%20&#1089;&#1090;&#1086;&#1083;\&#1043;&#1086;&#1088;&#1086;&#1076;&#1072;%20&#1072;&#1075;&#1083;&#1086;&#1084;&#1077;&#1088;&#1072;&#1094;&#1080;&#1080;(&#1040;&#1074;&#1090;&#1086;&#1084;&#1072;&#1090;&#1080;&#1095;&#1077;&#1089;&#1082;&#1080;&#1042;&#1086;&#1089;&#1089;&#1090;&#1072;&#1085;&#1086;&#1074;&#1083;&#1077;&#1085;&#1086;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Лист2!$B$51</c:f>
              <c:strCache>
                <c:ptCount val="1"/>
                <c:pt idx="0">
                  <c:v>Село</c:v>
                </c:pt>
              </c:strCache>
            </c:strRef>
          </c:tx>
          <c:spPr>
            <a:ln w="28575" cap="rnd">
              <a:solidFill>
                <a:schemeClr val="bg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Лист2!$A$52:$A$60</c:f>
              <c:strCache>
                <c:ptCount val="9"/>
                <c:pt idx="0">
                  <c:v>1 Рекреационная</c:v>
                </c:pt>
                <c:pt idx="1">
                  <c:v>2 Жилая</c:v>
                </c:pt>
                <c:pt idx="2">
                  <c:v>3 Транспорт</c:v>
                </c:pt>
                <c:pt idx="3">
                  <c:v>4 Деловая</c:v>
                </c:pt>
                <c:pt idx="4">
                  <c:v>5 Инженерные сети</c:v>
                </c:pt>
                <c:pt idx="5">
                  <c:v>6 Производственная</c:v>
                </c:pt>
                <c:pt idx="6">
                  <c:v>7 Лесная</c:v>
                </c:pt>
                <c:pt idx="7">
                  <c:v>8 Специальные зоны</c:v>
                </c:pt>
                <c:pt idx="8">
                  <c:v>9 Сельское хозяйство</c:v>
                </c:pt>
              </c:strCache>
            </c:strRef>
          </c:cat>
          <c:val>
            <c:numRef>
              <c:f>Лист2!$B$52:$B$60</c:f>
              <c:numCache>
                <c:formatCode>General</c:formatCode>
                <c:ptCount val="9"/>
                <c:pt idx="0">
                  <c:v>15</c:v>
                </c:pt>
                <c:pt idx="1">
                  <c:v>6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10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87-408A-8FF7-75DB4374FE27}"/>
            </c:ext>
          </c:extLst>
        </c:ser>
        <c:ser>
          <c:idx val="1"/>
          <c:order val="1"/>
          <c:tx>
            <c:strRef>
              <c:f>Лист2!$C$51</c:f>
              <c:strCache>
                <c:ptCount val="1"/>
                <c:pt idx="0">
                  <c:v>Город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Лист2!$A$52:$A$60</c:f>
              <c:strCache>
                <c:ptCount val="9"/>
                <c:pt idx="0">
                  <c:v>1 Рекреационная</c:v>
                </c:pt>
                <c:pt idx="1">
                  <c:v>2 Жилая</c:v>
                </c:pt>
                <c:pt idx="2">
                  <c:v>3 Транспорт</c:v>
                </c:pt>
                <c:pt idx="3">
                  <c:v>4 Деловая</c:v>
                </c:pt>
                <c:pt idx="4">
                  <c:v>5 Инженерные сети</c:v>
                </c:pt>
                <c:pt idx="5">
                  <c:v>6 Производственная</c:v>
                </c:pt>
                <c:pt idx="6">
                  <c:v>7 Лесная</c:v>
                </c:pt>
                <c:pt idx="7">
                  <c:v>8 Специальные зоны</c:v>
                </c:pt>
                <c:pt idx="8">
                  <c:v>9 Сельское хозяйство</c:v>
                </c:pt>
              </c:strCache>
            </c:strRef>
          </c:cat>
          <c:val>
            <c:numRef>
              <c:f>Лист2!$C$52:$C$60</c:f>
              <c:numCache>
                <c:formatCode>General</c:formatCode>
                <c:ptCount val="9"/>
                <c:pt idx="0">
                  <c:v>20</c:v>
                </c:pt>
                <c:pt idx="1">
                  <c:v>10</c:v>
                </c:pt>
                <c:pt idx="2">
                  <c:v>8</c:v>
                </c:pt>
                <c:pt idx="3">
                  <c:v>4</c:v>
                </c:pt>
                <c:pt idx="4">
                  <c:v>3</c:v>
                </c:pt>
                <c:pt idx="5">
                  <c:v>10</c:v>
                </c:pt>
                <c:pt idx="6">
                  <c:v>18</c:v>
                </c:pt>
                <c:pt idx="7">
                  <c:v>15</c:v>
                </c:pt>
                <c:pt idx="8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87-408A-8FF7-75DB4374FE27}"/>
            </c:ext>
          </c:extLst>
        </c:ser>
        <c:ser>
          <c:idx val="2"/>
          <c:order val="2"/>
          <c:tx>
            <c:strRef>
              <c:f>Лист2!$D$51</c:f>
              <c:strCache>
                <c:ptCount val="1"/>
                <c:pt idx="0">
                  <c:v>Городской округ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strRef>
              <c:f>Лист2!$A$52:$A$60</c:f>
              <c:strCache>
                <c:ptCount val="9"/>
                <c:pt idx="0">
                  <c:v>1 Рекреационная</c:v>
                </c:pt>
                <c:pt idx="1">
                  <c:v>2 Жилая</c:v>
                </c:pt>
                <c:pt idx="2">
                  <c:v>3 Транспорт</c:v>
                </c:pt>
                <c:pt idx="3">
                  <c:v>4 Деловая</c:v>
                </c:pt>
                <c:pt idx="4">
                  <c:v>5 Инженерные сети</c:v>
                </c:pt>
                <c:pt idx="5">
                  <c:v>6 Производственная</c:v>
                </c:pt>
                <c:pt idx="6">
                  <c:v>7 Лесная</c:v>
                </c:pt>
                <c:pt idx="7">
                  <c:v>8 Специальные зоны</c:v>
                </c:pt>
                <c:pt idx="8">
                  <c:v>9 Сельское хозяйство</c:v>
                </c:pt>
              </c:strCache>
            </c:strRef>
          </c:cat>
          <c:val>
            <c:numRef>
              <c:f>Лист2!$D$52:$D$60</c:f>
              <c:numCache>
                <c:formatCode>General</c:formatCode>
                <c:ptCount val="9"/>
                <c:pt idx="0">
                  <c:v>25</c:v>
                </c:pt>
                <c:pt idx="1">
                  <c:v>15</c:v>
                </c:pt>
                <c:pt idx="2">
                  <c:v>14</c:v>
                </c:pt>
                <c:pt idx="3">
                  <c:v>7</c:v>
                </c:pt>
                <c:pt idx="4">
                  <c:v>4</c:v>
                </c:pt>
                <c:pt idx="5">
                  <c:v>10</c:v>
                </c:pt>
                <c:pt idx="6">
                  <c:v>11</c:v>
                </c:pt>
                <c:pt idx="7">
                  <c:v>9</c:v>
                </c:pt>
                <c:pt idx="8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87-408A-8FF7-75DB4374FE27}"/>
            </c:ext>
          </c:extLst>
        </c:ser>
        <c:ser>
          <c:idx val="3"/>
          <c:order val="3"/>
          <c:tx>
            <c:strRef>
              <c:f>Лист2!$E$51</c:f>
              <c:strCache>
                <c:ptCount val="1"/>
                <c:pt idx="0">
                  <c:v>ГФЗ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cat>
            <c:strRef>
              <c:f>Лист2!$A$52:$A$60</c:f>
              <c:strCache>
                <c:ptCount val="9"/>
                <c:pt idx="0">
                  <c:v>1 Рекреационная</c:v>
                </c:pt>
                <c:pt idx="1">
                  <c:v>2 Жилая</c:v>
                </c:pt>
                <c:pt idx="2">
                  <c:v>3 Транспорт</c:v>
                </c:pt>
                <c:pt idx="3">
                  <c:v>4 Деловая</c:v>
                </c:pt>
                <c:pt idx="4">
                  <c:v>5 Инженерные сети</c:v>
                </c:pt>
                <c:pt idx="5">
                  <c:v>6 Производственная</c:v>
                </c:pt>
                <c:pt idx="6">
                  <c:v>7 Лесная</c:v>
                </c:pt>
                <c:pt idx="7">
                  <c:v>8 Специальные зоны</c:v>
                </c:pt>
                <c:pt idx="8">
                  <c:v>9 Сельское хозяйство</c:v>
                </c:pt>
              </c:strCache>
            </c:strRef>
          </c:cat>
          <c:val>
            <c:numRef>
              <c:f>Лист2!$E$52:$E$60</c:f>
              <c:numCache>
                <c:formatCode>General</c:formatCode>
                <c:ptCount val="9"/>
                <c:pt idx="0">
                  <c:v>30</c:v>
                </c:pt>
                <c:pt idx="1">
                  <c:v>20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  <c:pt idx="5">
                  <c:v>10</c:v>
                </c:pt>
                <c:pt idx="6">
                  <c:v>3</c:v>
                </c:pt>
                <c:pt idx="7">
                  <c:v>2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587-408A-8FF7-75DB4374FE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39284863"/>
        <c:axId val="739277791"/>
      </c:radarChart>
      <c:catAx>
        <c:axId val="739284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anrope" pitchFamily="2" charset="0"/>
                <a:ea typeface="+mn-ea"/>
                <a:cs typeface="+mn-cs"/>
              </a:defRPr>
            </a:pPr>
            <a:endParaRPr lang="ru-RU"/>
          </a:p>
        </c:txPr>
        <c:crossAx val="739277791"/>
        <c:crosses val="autoZero"/>
        <c:auto val="1"/>
        <c:lblAlgn val="ctr"/>
        <c:lblOffset val="100"/>
        <c:noMultiLvlLbl val="0"/>
      </c:catAx>
      <c:valAx>
        <c:axId val="7392777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anrope" pitchFamily="2" charset="0"/>
                <a:ea typeface="+mn-ea"/>
                <a:cs typeface="+mn-cs"/>
              </a:defRPr>
            </a:pPr>
            <a:endParaRPr lang="ru-RU"/>
          </a:p>
        </c:txPr>
        <c:crossAx val="7392848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anrope" pitchFamily="2" charset="0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600">
          <a:latin typeface="Manrope" pitchFamily="2" charset="0"/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7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Manrope" pitchFamily="2" charset="0"/>
                <a:ea typeface="+mn-ea"/>
                <a:cs typeface="+mn-cs"/>
              </a:defRPr>
            </a:pPr>
            <a:r>
              <a:rPr lang="ru-RU"/>
              <a:t>Население Санкт-Петербурга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Manrope" pitchFamily="2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cat>
            <c:numRef>
              <c:f>Лист2!$C$206:$R$206</c:f>
              <c:numCache>
                <c:formatCode>General</c:formatCode>
                <c:ptCount val="16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</c:numCache>
            </c:numRef>
          </c:cat>
          <c:val>
            <c:numRef>
              <c:f>Лист2!$C$207:$R$207</c:f>
              <c:numCache>
                <c:formatCode>General</c:formatCode>
                <c:ptCount val="16"/>
                <c:pt idx="0">
                  <c:v>4879.5659999999998</c:v>
                </c:pt>
                <c:pt idx="1">
                  <c:v>4899.3440000000001</c:v>
                </c:pt>
                <c:pt idx="2">
                  <c:v>4953.2190000000001</c:v>
                </c:pt>
                <c:pt idx="3">
                  <c:v>5028</c:v>
                </c:pt>
                <c:pt idx="4">
                  <c:v>5131.942</c:v>
                </c:pt>
                <c:pt idx="5">
                  <c:v>5191.6899999999996</c:v>
                </c:pt>
                <c:pt idx="6">
                  <c:v>5225.6899999999996</c:v>
                </c:pt>
                <c:pt idx="7">
                  <c:v>5281.5789999999997</c:v>
                </c:pt>
                <c:pt idx="8">
                  <c:v>5351.9350000000004</c:v>
                </c:pt>
                <c:pt idx="9">
                  <c:v>5383.89</c:v>
                </c:pt>
                <c:pt idx="10">
                  <c:v>5398.0640000000003</c:v>
                </c:pt>
                <c:pt idx="11">
                  <c:v>5601.9110000000001</c:v>
                </c:pt>
                <c:pt idx="12">
                  <c:v>5607.9160000000002</c:v>
                </c:pt>
                <c:pt idx="13">
                  <c:v>5600.0439999999999</c:v>
                </c:pt>
                <c:pt idx="14">
                  <c:v>5597.7629999999999</c:v>
                </c:pt>
                <c:pt idx="15">
                  <c:v>5652.9219999999996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C1C-435F-8338-942BBD39BE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91861455"/>
        <c:axId val="891847727"/>
      </c:lineChart>
      <c:catAx>
        <c:axId val="891861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anrope" pitchFamily="2" charset="0"/>
                <a:ea typeface="+mn-ea"/>
                <a:cs typeface="+mn-cs"/>
              </a:defRPr>
            </a:pPr>
            <a:endParaRPr lang="ru-RU"/>
          </a:p>
        </c:txPr>
        <c:crossAx val="891847727"/>
        <c:crosses val="autoZero"/>
        <c:auto val="1"/>
        <c:lblAlgn val="ctr"/>
        <c:lblOffset val="100"/>
        <c:noMultiLvlLbl val="0"/>
      </c:catAx>
      <c:valAx>
        <c:axId val="891847727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chemeClr val="tx1">
                  <a:alpha val="16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anrope" pitchFamily="2" charset="0"/>
                <a:ea typeface="+mn-ea"/>
                <a:cs typeface="+mn-cs"/>
              </a:defRPr>
            </a:pPr>
            <a:endParaRPr lang="ru-RU"/>
          </a:p>
        </c:txPr>
        <c:crossAx val="8918614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600">
          <a:latin typeface="Manrope" pitchFamily="2" charset="0"/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7E641A-C035-4973-9D11-C97C466D3F22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419350" y="1143000"/>
            <a:ext cx="20193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5D384D-17C1-4756-86ED-24AD162299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0301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974348" rtl="0" eaLnBrk="1" latinLnBrk="0" hangingPunct="1">
      <a:defRPr sz="5216" kern="1200">
        <a:solidFill>
          <a:schemeClr val="tx1"/>
        </a:solidFill>
        <a:latin typeface="+mn-lt"/>
        <a:ea typeface="+mn-ea"/>
        <a:cs typeface="+mn-cs"/>
      </a:defRPr>
    </a:lvl1pPr>
    <a:lvl2pPr marL="1987174" algn="l" defTabSz="3974348" rtl="0" eaLnBrk="1" latinLnBrk="0" hangingPunct="1">
      <a:defRPr sz="5216" kern="1200">
        <a:solidFill>
          <a:schemeClr val="tx1"/>
        </a:solidFill>
        <a:latin typeface="+mn-lt"/>
        <a:ea typeface="+mn-ea"/>
        <a:cs typeface="+mn-cs"/>
      </a:defRPr>
    </a:lvl2pPr>
    <a:lvl3pPr marL="3974348" algn="l" defTabSz="3974348" rtl="0" eaLnBrk="1" latinLnBrk="0" hangingPunct="1">
      <a:defRPr sz="5216" kern="1200">
        <a:solidFill>
          <a:schemeClr val="tx1"/>
        </a:solidFill>
        <a:latin typeface="+mn-lt"/>
        <a:ea typeface="+mn-ea"/>
        <a:cs typeface="+mn-cs"/>
      </a:defRPr>
    </a:lvl3pPr>
    <a:lvl4pPr marL="5961522" algn="l" defTabSz="3974348" rtl="0" eaLnBrk="1" latinLnBrk="0" hangingPunct="1">
      <a:defRPr sz="5216" kern="1200">
        <a:solidFill>
          <a:schemeClr val="tx1"/>
        </a:solidFill>
        <a:latin typeface="+mn-lt"/>
        <a:ea typeface="+mn-ea"/>
        <a:cs typeface="+mn-cs"/>
      </a:defRPr>
    </a:lvl4pPr>
    <a:lvl5pPr marL="7948696" algn="l" defTabSz="3974348" rtl="0" eaLnBrk="1" latinLnBrk="0" hangingPunct="1">
      <a:defRPr sz="5216" kern="1200">
        <a:solidFill>
          <a:schemeClr val="tx1"/>
        </a:solidFill>
        <a:latin typeface="+mn-lt"/>
        <a:ea typeface="+mn-ea"/>
        <a:cs typeface="+mn-cs"/>
      </a:defRPr>
    </a:lvl5pPr>
    <a:lvl6pPr marL="9935870" algn="l" defTabSz="3974348" rtl="0" eaLnBrk="1" latinLnBrk="0" hangingPunct="1">
      <a:defRPr sz="5216" kern="1200">
        <a:solidFill>
          <a:schemeClr val="tx1"/>
        </a:solidFill>
        <a:latin typeface="+mn-lt"/>
        <a:ea typeface="+mn-ea"/>
        <a:cs typeface="+mn-cs"/>
      </a:defRPr>
    </a:lvl6pPr>
    <a:lvl7pPr marL="11923044" algn="l" defTabSz="3974348" rtl="0" eaLnBrk="1" latinLnBrk="0" hangingPunct="1">
      <a:defRPr sz="5216" kern="1200">
        <a:solidFill>
          <a:schemeClr val="tx1"/>
        </a:solidFill>
        <a:latin typeface="+mn-lt"/>
        <a:ea typeface="+mn-ea"/>
        <a:cs typeface="+mn-cs"/>
      </a:defRPr>
    </a:lvl7pPr>
    <a:lvl8pPr marL="13910219" algn="l" defTabSz="3974348" rtl="0" eaLnBrk="1" latinLnBrk="0" hangingPunct="1">
      <a:defRPr sz="5216" kern="1200">
        <a:solidFill>
          <a:schemeClr val="tx1"/>
        </a:solidFill>
        <a:latin typeface="+mn-lt"/>
        <a:ea typeface="+mn-ea"/>
        <a:cs typeface="+mn-cs"/>
      </a:defRPr>
    </a:lvl8pPr>
    <a:lvl9pPr marL="15897393" algn="l" defTabSz="3974348" rtl="0" eaLnBrk="1" latinLnBrk="0" hangingPunct="1">
      <a:defRPr sz="521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BD46DB-B604-4E50-9E29-775FC9811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4956" y="8189353"/>
            <a:ext cx="24569738" cy="1742119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483C22D-C7FE-4BB8-948A-176AA768B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94956" y="26282370"/>
            <a:ext cx="24569738" cy="1208131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E9405A-0D3C-4813-99F4-71842FD2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71C8E-BD35-4403-926B-2884B773C1DF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D83A9E-0EFD-4B98-89DD-4FCABD55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4D0C69-B635-4161-95B6-F7376A132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E74C8-4370-41C2-8057-3432E03AB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3168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A71680-B482-42F0-AF5B-9D163663A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059CB7-B61E-4FC3-86BD-6A125D327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376314-003F-40B9-9A97-1B820E0F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71C8E-BD35-4403-926B-2884B773C1DF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4E0733-7B44-4254-8A86-A71B30A27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228F1E-F26A-4C24-B3DC-1D3C0BB62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E74C8-4370-41C2-8057-3432E03AB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285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C74589-7019-4398-88EF-5F4047431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164" y="12475155"/>
            <a:ext cx="28255198" cy="208150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42861B-3D3B-45C2-A9E1-2A3B34670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35164" y="33487148"/>
            <a:ext cx="28255198" cy="109461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33C1B4-2BA9-4D4E-95B1-9DCFA7BA2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71C8E-BD35-4403-926B-2884B773C1DF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947DF5-88D0-4997-A523-EB5E89658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BACD6C-B249-4475-B3CD-35D22A46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E74C8-4370-41C2-8057-3432E03AB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6402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B6D72B-46D0-42E7-850E-E48F9F98B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40B721-5B45-422D-AC8D-03D897DB99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52226" y="13320724"/>
            <a:ext cx="13922851" cy="317496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71635FB-1969-4576-9E5F-FE269AA0E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584573" y="13320724"/>
            <a:ext cx="13922851" cy="317496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372B4F-8632-4FC4-9BA6-436850E57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71C8E-BD35-4403-926B-2884B773C1DF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C59528-460C-4E71-9736-7DEA73661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6D8FDF-3BF8-4115-A6A5-BEB1A9FF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E74C8-4370-41C2-8057-3432E03AB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873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CE806-BDA4-42CF-BC5B-617973584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6493" y="2664149"/>
            <a:ext cx="28255198" cy="9672007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3D34F66-DB88-492B-8E2E-F0BA53D4F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56494" y="12266653"/>
            <a:ext cx="13858866" cy="6011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439DC51-A7FC-4F84-A3DB-D57228418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56494" y="18278349"/>
            <a:ext cx="13858866" cy="268846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D619BCE-D3FE-4C53-9E89-6134F5FAD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6584573" y="12266653"/>
            <a:ext cx="13927118" cy="6011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879545-8890-4BEB-BEA0-756D7C0D81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6584573" y="18278349"/>
            <a:ext cx="13927118" cy="268846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A04BB94-912A-4BB8-8E7D-4BB5C2FB3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71C8E-BD35-4403-926B-2884B773C1DF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67005CF-375B-4A87-BD93-916EE5A67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F046A4E-0DA9-4225-8452-9B0E7F1F2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E74C8-4370-41C2-8057-3432E03AB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419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3BFA0E-7873-43AB-8BC3-BF7D4C9E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76B4E74-C14A-465F-819C-D18C7A5F7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71C8E-BD35-4403-926B-2884B773C1DF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6BD4E98-5BFE-4F77-A50B-F44A76EDB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F383965-C5D2-44E1-83C6-95F5121B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E74C8-4370-41C2-8057-3432E03AB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681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6A6E21A-22A0-4070-9920-1A2D4C12D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71C8E-BD35-4403-926B-2884B773C1DF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D2372D-68CF-4840-B78C-A4ADB7F24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D7C8D2-8CC0-4947-850B-775BA9EC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E74C8-4370-41C2-8057-3432E03AB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57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3209F0-9331-4D34-BE46-209091A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6494" y="3335972"/>
            <a:ext cx="10565839" cy="1167590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07865D-82BF-4E79-A272-7FDB3E7D0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7118" y="7204777"/>
            <a:ext cx="16584573" cy="3556054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D23BCD-C098-438D-A644-846E0E6CA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56494" y="15011876"/>
            <a:ext cx="10565839" cy="2781135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51B605-D52B-480E-A3FE-903E8192D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71C8E-BD35-4403-926B-2884B773C1DF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0A156AC-99B3-4FBA-AEAD-F65A7F4E7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205E71-905C-4E7A-9EB5-1E5C0C2F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E74C8-4370-41C2-8057-3432E03AB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8143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F7365-36AA-4CEB-9959-927B3846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6494" y="3335972"/>
            <a:ext cx="10565839" cy="1167590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F630078-3A5A-4D44-8A0E-EDF78D108A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3927118" y="7204777"/>
            <a:ext cx="16584573" cy="3556054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621D398-5EE7-453F-A342-EC8B9849A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56494" y="15011876"/>
            <a:ext cx="10565839" cy="2781135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12A8E0-085F-4FB7-ADEA-E01F4381A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71C8E-BD35-4403-926B-2884B773C1DF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1981F6A-0714-47D3-A6D6-DC63167BA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CC2493C-67FE-4D50-95BA-7CD6F4A6C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E74C8-4370-41C2-8057-3432E03AB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645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B84F4-5C70-44E5-A5FB-65796F84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65A34DA-9649-472D-A25E-43F8D74B3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6A2AD6-80B8-438D-A100-6D5E4C84B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71C8E-BD35-4403-926B-2884B773C1DF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779ACC-72A5-4821-924E-16CBEABD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93956A-341A-42AA-9874-D1E26E987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E74C8-4370-41C2-8057-3432E03AB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789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E8A68DE-DB6E-4E07-9A3A-EB61851486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3443624" y="2664145"/>
            <a:ext cx="7063800" cy="424062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E30B0CF-31EC-4F60-8D2D-323C0C33B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252226" y="2664145"/>
            <a:ext cx="20781903" cy="424062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E7D162-A146-4CE6-9D28-38F6C137B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71C8E-BD35-4403-926B-2884B773C1DF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22F3D3-7586-468A-B179-5D9C4D67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11237A-A354-4249-A3FD-91CCABE2E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E74C8-4370-41C2-8057-3432E03AB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436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56974" y="8189353"/>
            <a:ext cx="27845703" cy="17421190"/>
          </a:xfrm>
        </p:spPr>
        <p:txBody>
          <a:bodyPr anchor="b"/>
          <a:lstStyle>
            <a:lvl1pPr algn="ctr">
              <a:defRPr sz="2149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94956" y="26282370"/>
            <a:ext cx="24569738" cy="12081314"/>
          </a:xfrm>
        </p:spPr>
        <p:txBody>
          <a:bodyPr/>
          <a:lstStyle>
            <a:lvl1pPr marL="0" indent="0" algn="ctr">
              <a:buNone/>
              <a:defRPr sz="8598"/>
            </a:lvl1pPr>
            <a:lvl2pPr marL="1637965" indent="0" algn="ctr">
              <a:buNone/>
              <a:defRPr sz="7165"/>
            </a:lvl2pPr>
            <a:lvl3pPr marL="3275929" indent="0" algn="ctr">
              <a:buNone/>
              <a:defRPr sz="6449"/>
            </a:lvl3pPr>
            <a:lvl4pPr marL="4913894" indent="0" algn="ctr">
              <a:buNone/>
              <a:defRPr sz="5732"/>
            </a:lvl4pPr>
            <a:lvl5pPr marL="6551859" indent="0" algn="ctr">
              <a:buNone/>
              <a:defRPr sz="5732"/>
            </a:lvl5pPr>
            <a:lvl6pPr marL="8189824" indent="0" algn="ctr">
              <a:buNone/>
              <a:defRPr sz="5732"/>
            </a:lvl6pPr>
            <a:lvl7pPr marL="9827788" indent="0" algn="ctr">
              <a:buNone/>
              <a:defRPr sz="5732"/>
            </a:lvl7pPr>
            <a:lvl8pPr marL="11465753" indent="0" algn="ctr">
              <a:buNone/>
              <a:defRPr sz="5732"/>
            </a:lvl8pPr>
            <a:lvl9pPr marL="13103718" indent="0" algn="ctr">
              <a:buNone/>
              <a:defRPr sz="5732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7DA6-4DF8-4B5C-BB12-348DE1A8C0D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1512-614A-4606-A41C-044EFEF705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5775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7DA6-4DF8-4B5C-BB12-348DE1A8C0D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1512-614A-4606-A41C-044EFEF705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029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165" y="12475162"/>
            <a:ext cx="28255198" cy="20815075"/>
          </a:xfrm>
        </p:spPr>
        <p:txBody>
          <a:bodyPr anchor="b"/>
          <a:lstStyle>
            <a:lvl1pPr>
              <a:defRPr sz="2149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5165" y="33487156"/>
            <a:ext cx="28255198" cy="10946156"/>
          </a:xfrm>
        </p:spPr>
        <p:txBody>
          <a:bodyPr/>
          <a:lstStyle>
            <a:lvl1pPr marL="0" indent="0">
              <a:buNone/>
              <a:defRPr sz="8598">
                <a:solidFill>
                  <a:schemeClr val="tx1"/>
                </a:solidFill>
              </a:defRPr>
            </a:lvl1pPr>
            <a:lvl2pPr marL="1637965" indent="0">
              <a:buNone/>
              <a:defRPr sz="7165">
                <a:solidFill>
                  <a:schemeClr val="tx1">
                    <a:tint val="75000"/>
                  </a:schemeClr>
                </a:solidFill>
              </a:defRPr>
            </a:lvl2pPr>
            <a:lvl3pPr marL="3275929" indent="0">
              <a:buNone/>
              <a:defRPr sz="6449">
                <a:solidFill>
                  <a:schemeClr val="tx1">
                    <a:tint val="75000"/>
                  </a:schemeClr>
                </a:solidFill>
              </a:defRPr>
            </a:lvl3pPr>
            <a:lvl4pPr marL="4913894" indent="0">
              <a:buNone/>
              <a:defRPr sz="5732">
                <a:solidFill>
                  <a:schemeClr val="tx1">
                    <a:tint val="75000"/>
                  </a:schemeClr>
                </a:solidFill>
              </a:defRPr>
            </a:lvl4pPr>
            <a:lvl5pPr marL="6551859" indent="0">
              <a:buNone/>
              <a:defRPr sz="5732">
                <a:solidFill>
                  <a:schemeClr val="tx1">
                    <a:tint val="75000"/>
                  </a:schemeClr>
                </a:solidFill>
              </a:defRPr>
            </a:lvl5pPr>
            <a:lvl6pPr marL="8189824" indent="0">
              <a:buNone/>
              <a:defRPr sz="5732">
                <a:solidFill>
                  <a:schemeClr val="tx1">
                    <a:tint val="75000"/>
                  </a:schemeClr>
                </a:solidFill>
              </a:defRPr>
            </a:lvl6pPr>
            <a:lvl7pPr marL="9827788" indent="0">
              <a:buNone/>
              <a:defRPr sz="5732">
                <a:solidFill>
                  <a:schemeClr val="tx1">
                    <a:tint val="75000"/>
                  </a:schemeClr>
                </a:solidFill>
              </a:defRPr>
            </a:lvl7pPr>
            <a:lvl8pPr marL="11465753" indent="0">
              <a:buNone/>
              <a:defRPr sz="5732">
                <a:solidFill>
                  <a:schemeClr val="tx1">
                    <a:tint val="75000"/>
                  </a:schemeClr>
                </a:solidFill>
              </a:defRPr>
            </a:lvl8pPr>
            <a:lvl9pPr marL="13103718" indent="0">
              <a:buNone/>
              <a:defRPr sz="573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7DA6-4DF8-4B5C-BB12-348DE1A8C0D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1512-614A-4606-A41C-044EFEF705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390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52226" y="13320724"/>
            <a:ext cx="13922851" cy="317496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84573" y="13320724"/>
            <a:ext cx="13922851" cy="317496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7DA6-4DF8-4B5C-BB12-348DE1A8C0D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1512-614A-4606-A41C-044EFEF705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3658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6493" y="2664156"/>
            <a:ext cx="28255198" cy="967200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56497" y="12266653"/>
            <a:ext cx="13858865" cy="6011697"/>
          </a:xfrm>
        </p:spPr>
        <p:txBody>
          <a:bodyPr anchor="b"/>
          <a:lstStyle>
            <a:lvl1pPr marL="0" indent="0">
              <a:buNone/>
              <a:defRPr sz="8598" b="1"/>
            </a:lvl1pPr>
            <a:lvl2pPr marL="1637965" indent="0">
              <a:buNone/>
              <a:defRPr sz="7165" b="1"/>
            </a:lvl2pPr>
            <a:lvl3pPr marL="3275929" indent="0">
              <a:buNone/>
              <a:defRPr sz="6449" b="1"/>
            </a:lvl3pPr>
            <a:lvl4pPr marL="4913894" indent="0">
              <a:buNone/>
              <a:defRPr sz="5732" b="1"/>
            </a:lvl4pPr>
            <a:lvl5pPr marL="6551859" indent="0">
              <a:buNone/>
              <a:defRPr sz="5732" b="1"/>
            </a:lvl5pPr>
            <a:lvl6pPr marL="8189824" indent="0">
              <a:buNone/>
              <a:defRPr sz="5732" b="1"/>
            </a:lvl6pPr>
            <a:lvl7pPr marL="9827788" indent="0">
              <a:buNone/>
              <a:defRPr sz="5732" b="1"/>
            </a:lvl7pPr>
            <a:lvl8pPr marL="11465753" indent="0">
              <a:buNone/>
              <a:defRPr sz="5732" b="1"/>
            </a:lvl8pPr>
            <a:lvl9pPr marL="13103718" indent="0">
              <a:buNone/>
              <a:defRPr sz="5732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56497" y="18278349"/>
            <a:ext cx="13858865" cy="268846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584575" y="12266653"/>
            <a:ext cx="13927118" cy="6011697"/>
          </a:xfrm>
        </p:spPr>
        <p:txBody>
          <a:bodyPr anchor="b"/>
          <a:lstStyle>
            <a:lvl1pPr marL="0" indent="0">
              <a:buNone/>
              <a:defRPr sz="8598" b="1"/>
            </a:lvl1pPr>
            <a:lvl2pPr marL="1637965" indent="0">
              <a:buNone/>
              <a:defRPr sz="7165" b="1"/>
            </a:lvl2pPr>
            <a:lvl3pPr marL="3275929" indent="0">
              <a:buNone/>
              <a:defRPr sz="6449" b="1"/>
            </a:lvl3pPr>
            <a:lvl4pPr marL="4913894" indent="0">
              <a:buNone/>
              <a:defRPr sz="5732" b="1"/>
            </a:lvl4pPr>
            <a:lvl5pPr marL="6551859" indent="0">
              <a:buNone/>
              <a:defRPr sz="5732" b="1"/>
            </a:lvl5pPr>
            <a:lvl6pPr marL="8189824" indent="0">
              <a:buNone/>
              <a:defRPr sz="5732" b="1"/>
            </a:lvl6pPr>
            <a:lvl7pPr marL="9827788" indent="0">
              <a:buNone/>
              <a:defRPr sz="5732" b="1"/>
            </a:lvl7pPr>
            <a:lvl8pPr marL="11465753" indent="0">
              <a:buNone/>
              <a:defRPr sz="5732" b="1"/>
            </a:lvl8pPr>
            <a:lvl9pPr marL="13103718" indent="0">
              <a:buNone/>
              <a:defRPr sz="5732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584575" y="18278349"/>
            <a:ext cx="13927118" cy="268846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7DA6-4DF8-4B5C-BB12-348DE1A8C0D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1512-614A-4606-A41C-044EFEF705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54949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7DA6-4DF8-4B5C-BB12-348DE1A8C0D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1512-614A-4606-A41C-044EFEF705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5926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7DA6-4DF8-4B5C-BB12-348DE1A8C0D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1512-614A-4606-A41C-044EFEF705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5502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6493" y="3335972"/>
            <a:ext cx="10565840" cy="11675904"/>
          </a:xfrm>
        </p:spPr>
        <p:txBody>
          <a:bodyPr anchor="b"/>
          <a:lstStyle>
            <a:lvl1pPr>
              <a:defRPr sz="1146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27118" y="7204785"/>
            <a:ext cx="16584573" cy="35560541"/>
          </a:xfrm>
        </p:spPr>
        <p:txBody>
          <a:bodyPr/>
          <a:lstStyle>
            <a:lvl1pPr>
              <a:defRPr sz="11464"/>
            </a:lvl1pPr>
            <a:lvl2pPr>
              <a:defRPr sz="10031"/>
            </a:lvl2pPr>
            <a:lvl3pPr>
              <a:defRPr sz="8598"/>
            </a:lvl3pPr>
            <a:lvl4pPr>
              <a:defRPr sz="7165"/>
            </a:lvl4pPr>
            <a:lvl5pPr>
              <a:defRPr sz="7165"/>
            </a:lvl5pPr>
            <a:lvl6pPr>
              <a:defRPr sz="7165"/>
            </a:lvl6pPr>
            <a:lvl7pPr>
              <a:defRPr sz="7165"/>
            </a:lvl7pPr>
            <a:lvl8pPr>
              <a:defRPr sz="7165"/>
            </a:lvl8pPr>
            <a:lvl9pPr>
              <a:defRPr sz="716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56493" y="15011876"/>
            <a:ext cx="10565840" cy="27811358"/>
          </a:xfrm>
        </p:spPr>
        <p:txBody>
          <a:bodyPr/>
          <a:lstStyle>
            <a:lvl1pPr marL="0" indent="0">
              <a:buNone/>
              <a:defRPr sz="5732"/>
            </a:lvl1pPr>
            <a:lvl2pPr marL="1637965" indent="0">
              <a:buNone/>
              <a:defRPr sz="5016"/>
            </a:lvl2pPr>
            <a:lvl3pPr marL="3275929" indent="0">
              <a:buNone/>
              <a:defRPr sz="4299"/>
            </a:lvl3pPr>
            <a:lvl4pPr marL="4913894" indent="0">
              <a:buNone/>
              <a:defRPr sz="3583"/>
            </a:lvl4pPr>
            <a:lvl5pPr marL="6551859" indent="0">
              <a:buNone/>
              <a:defRPr sz="3583"/>
            </a:lvl5pPr>
            <a:lvl6pPr marL="8189824" indent="0">
              <a:buNone/>
              <a:defRPr sz="3583"/>
            </a:lvl6pPr>
            <a:lvl7pPr marL="9827788" indent="0">
              <a:buNone/>
              <a:defRPr sz="3583"/>
            </a:lvl7pPr>
            <a:lvl8pPr marL="11465753" indent="0">
              <a:buNone/>
              <a:defRPr sz="3583"/>
            </a:lvl8pPr>
            <a:lvl9pPr marL="13103718" indent="0">
              <a:buNone/>
              <a:defRPr sz="3583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7DA6-4DF8-4B5C-BB12-348DE1A8C0D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1512-614A-4606-A41C-044EFEF705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1318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6493" y="3335972"/>
            <a:ext cx="10565840" cy="11675904"/>
          </a:xfrm>
        </p:spPr>
        <p:txBody>
          <a:bodyPr anchor="b"/>
          <a:lstStyle>
            <a:lvl1pPr>
              <a:defRPr sz="1146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27118" y="7204785"/>
            <a:ext cx="16584573" cy="35560541"/>
          </a:xfrm>
        </p:spPr>
        <p:txBody>
          <a:bodyPr anchor="t"/>
          <a:lstStyle>
            <a:lvl1pPr marL="0" indent="0">
              <a:buNone/>
              <a:defRPr sz="11464"/>
            </a:lvl1pPr>
            <a:lvl2pPr marL="1637965" indent="0">
              <a:buNone/>
              <a:defRPr sz="10031"/>
            </a:lvl2pPr>
            <a:lvl3pPr marL="3275929" indent="0">
              <a:buNone/>
              <a:defRPr sz="8598"/>
            </a:lvl3pPr>
            <a:lvl4pPr marL="4913894" indent="0">
              <a:buNone/>
              <a:defRPr sz="7165"/>
            </a:lvl4pPr>
            <a:lvl5pPr marL="6551859" indent="0">
              <a:buNone/>
              <a:defRPr sz="7165"/>
            </a:lvl5pPr>
            <a:lvl6pPr marL="8189824" indent="0">
              <a:buNone/>
              <a:defRPr sz="7165"/>
            </a:lvl6pPr>
            <a:lvl7pPr marL="9827788" indent="0">
              <a:buNone/>
              <a:defRPr sz="7165"/>
            </a:lvl7pPr>
            <a:lvl8pPr marL="11465753" indent="0">
              <a:buNone/>
              <a:defRPr sz="7165"/>
            </a:lvl8pPr>
            <a:lvl9pPr marL="13103718" indent="0">
              <a:buNone/>
              <a:defRPr sz="7165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56493" y="15011876"/>
            <a:ext cx="10565840" cy="27811358"/>
          </a:xfrm>
        </p:spPr>
        <p:txBody>
          <a:bodyPr/>
          <a:lstStyle>
            <a:lvl1pPr marL="0" indent="0">
              <a:buNone/>
              <a:defRPr sz="5732"/>
            </a:lvl1pPr>
            <a:lvl2pPr marL="1637965" indent="0">
              <a:buNone/>
              <a:defRPr sz="5016"/>
            </a:lvl2pPr>
            <a:lvl3pPr marL="3275929" indent="0">
              <a:buNone/>
              <a:defRPr sz="4299"/>
            </a:lvl3pPr>
            <a:lvl4pPr marL="4913894" indent="0">
              <a:buNone/>
              <a:defRPr sz="3583"/>
            </a:lvl4pPr>
            <a:lvl5pPr marL="6551859" indent="0">
              <a:buNone/>
              <a:defRPr sz="3583"/>
            </a:lvl5pPr>
            <a:lvl6pPr marL="8189824" indent="0">
              <a:buNone/>
              <a:defRPr sz="3583"/>
            </a:lvl6pPr>
            <a:lvl7pPr marL="9827788" indent="0">
              <a:buNone/>
              <a:defRPr sz="3583"/>
            </a:lvl7pPr>
            <a:lvl8pPr marL="11465753" indent="0">
              <a:buNone/>
              <a:defRPr sz="3583"/>
            </a:lvl8pPr>
            <a:lvl9pPr marL="13103718" indent="0">
              <a:buNone/>
              <a:defRPr sz="3583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7DA6-4DF8-4B5C-BB12-348DE1A8C0D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1512-614A-4606-A41C-044EFEF705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4859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7DA6-4DF8-4B5C-BB12-348DE1A8C0D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1512-614A-4606-A41C-044EFEF705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9564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443626" y="2664145"/>
            <a:ext cx="7063800" cy="424062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52228" y="2664145"/>
            <a:ext cx="20781903" cy="424062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7DA6-4DF8-4B5C-BB12-348DE1A8C0D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1512-614A-4606-A41C-044EFEF705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253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F3D554-E256-46AE-99C1-728B3E588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2226" y="2664149"/>
            <a:ext cx="28255198" cy="9672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F1214A-C703-4739-B125-506605D9E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52226" y="13320724"/>
            <a:ext cx="28255198" cy="317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7C59A0-760F-4EDD-A2A9-18622F2DC8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52226" y="46379288"/>
            <a:ext cx="7370921" cy="26641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71C8E-BD35-4403-926B-2884B773C1DF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76EE8D-D65B-4703-B048-B15721164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51634" y="46379288"/>
            <a:ext cx="11056382" cy="26641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45F591-E88C-4F2E-8698-588D37155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136503" y="46379288"/>
            <a:ext cx="7370921" cy="26641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E74C8-4370-41C2-8057-3432E03AB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292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52226" y="2664156"/>
            <a:ext cx="28255198" cy="9672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52226" y="13320724"/>
            <a:ext cx="28255198" cy="317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52226" y="46379296"/>
            <a:ext cx="7370921" cy="26641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F7DA6-4DF8-4B5C-BB12-348DE1A8C0D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51634" y="46379296"/>
            <a:ext cx="11056382" cy="26641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136503" y="46379296"/>
            <a:ext cx="7370921" cy="26641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D1512-614A-4606-A41C-044EFEF705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178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275929" rtl="0" eaLnBrk="1" latinLnBrk="0" hangingPunct="1">
        <a:lnSpc>
          <a:spcPct val="90000"/>
        </a:lnSpc>
        <a:spcBef>
          <a:spcPct val="0"/>
        </a:spcBef>
        <a:buNone/>
        <a:defRPr sz="157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18982" indent="-818982" algn="l" defTabSz="3275929" rtl="0" eaLnBrk="1" latinLnBrk="0" hangingPunct="1">
        <a:lnSpc>
          <a:spcPct val="90000"/>
        </a:lnSpc>
        <a:spcBef>
          <a:spcPts val="3583"/>
        </a:spcBef>
        <a:buFont typeface="Arial" panose="020B0604020202020204" pitchFamily="34" charset="0"/>
        <a:buChar char="•"/>
        <a:defRPr sz="10031" kern="1200">
          <a:solidFill>
            <a:schemeClr val="tx1"/>
          </a:solidFill>
          <a:latin typeface="+mn-lt"/>
          <a:ea typeface="+mn-ea"/>
          <a:cs typeface="+mn-cs"/>
        </a:defRPr>
      </a:lvl1pPr>
      <a:lvl2pPr marL="2456947" indent="-818982" algn="l" defTabSz="3275929" rtl="0" eaLnBrk="1" latinLnBrk="0" hangingPunct="1">
        <a:lnSpc>
          <a:spcPct val="90000"/>
        </a:lnSpc>
        <a:spcBef>
          <a:spcPts val="1791"/>
        </a:spcBef>
        <a:buFont typeface="Arial" panose="020B0604020202020204" pitchFamily="34" charset="0"/>
        <a:buChar char="•"/>
        <a:defRPr sz="8598" kern="1200">
          <a:solidFill>
            <a:schemeClr val="tx1"/>
          </a:solidFill>
          <a:latin typeface="+mn-lt"/>
          <a:ea typeface="+mn-ea"/>
          <a:cs typeface="+mn-cs"/>
        </a:defRPr>
      </a:lvl2pPr>
      <a:lvl3pPr marL="4094912" indent="-818982" algn="l" defTabSz="3275929" rtl="0" eaLnBrk="1" latinLnBrk="0" hangingPunct="1">
        <a:lnSpc>
          <a:spcPct val="90000"/>
        </a:lnSpc>
        <a:spcBef>
          <a:spcPts val="1791"/>
        </a:spcBef>
        <a:buFont typeface="Arial" panose="020B0604020202020204" pitchFamily="34" charset="0"/>
        <a:buChar char="•"/>
        <a:defRPr sz="7165" kern="1200">
          <a:solidFill>
            <a:schemeClr val="tx1"/>
          </a:solidFill>
          <a:latin typeface="+mn-lt"/>
          <a:ea typeface="+mn-ea"/>
          <a:cs typeface="+mn-cs"/>
        </a:defRPr>
      </a:lvl3pPr>
      <a:lvl4pPr marL="5732877" indent="-818982" algn="l" defTabSz="3275929" rtl="0" eaLnBrk="1" latinLnBrk="0" hangingPunct="1">
        <a:lnSpc>
          <a:spcPct val="90000"/>
        </a:lnSpc>
        <a:spcBef>
          <a:spcPts val="1791"/>
        </a:spcBef>
        <a:buFont typeface="Arial" panose="020B0604020202020204" pitchFamily="34" charset="0"/>
        <a:buChar char="•"/>
        <a:defRPr sz="6449" kern="1200">
          <a:solidFill>
            <a:schemeClr val="tx1"/>
          </a:solidFill>
          <a:latin typeface="+mn-lt"/>
          <a:ea typeface="+mn-ea"/>
          <a:cs typeface="+mn-cs"/>
        </a:defRPr>
      </a:lvl4pPr>
      <a:lvl5pPr marL="7370841" indent="-818982" algn="l" defTabSz="3275929" rtl="0" eaLnBrk="1" latinLnBrk="0" hangingPunct="1">
        <a:lnSpc>
          <a:spcPct val="90000"/>
        </a:lnSpc>
        <a:spcBef>
          <a:spcPts val="1791"/>
        </a:spcBef>
        <a:buFont typeface="Arial" panose="020B0604020202020204" pitchFamily="34" charset="0"/>
        <a:buChar char="•"/>
        <a:defRPr sz="6449" kern="1200">
          <a:solidFill>
            <a:schemeClr val="tx1"/>
          </a:solidFill>
          <a:latin typeface="+mn-lt"/>
          <a:ea typeface="+mn-ea"/>
          <a:cs typeface="+mn-cs"/>
        </a:defRPr>
      </a:lvl5pPr>
      <a:lvl6pPr marL="9008806" indent="-818982" algn="l" defTabSz="3275929" rtl="0" eaLnBrk="1" latinLnBrk="0" hangingPunct="1">
        <a:lnSpc>
          <a:spcPct val="90000"/>
        </a:lnSpc>
        <a:spcBef>
          <a:spcPts val="1791"/>
        </a:spcBef>
        <a:buFont typeface="Arial" panose="020B0604020202020204" pitchFamily="34" charset="0"/>
        <a:buChar char="•"/>
        <a:defRPr sz="6449" kern="1200">
          <a:solidFill>
            <a:schemeClr val="tx1"/>
          </a:solidFill>
          <a:latin typeface="+mn-lt"/>
          <a:ea typeface="+mn-ea"/>
          <a:cs typeface="+mn-cs"/>
        </a:defRPr>
      </a:lvl6pPr>
      <a:lvl7pPr marL="10646771" indent="-818982" algn="l" defTabSz="3275929" rtl="0" eaLnBrk="1" latinLnBrk="0" hangingPunct="1">
        <a:lnSpc>
          <a:spcPct val="90000"/>
        </a:lnSpc>
        <a:spcBef>
          <a:spcPts val="1791"/>
        </a:spcBef>
        <a:buFont typeface="Arial" panose="020B0604020202020204" pitchFamily="34" charset="0"/>
        <a:buChar char="•"/>
        <a:defRPr sz="6449" kern="1200">
          <a:solidFill>
            <a:schemeClr val="tx1"/>
          </a:solidFill>
          <a:latin typeface="+mn-lt"/>
          <a:ea typeface="+mn-ea"/>
          <a:cs typeface="+mn-cs"/>
        </a:defRPr>
      </a:lvl7pPr>
      <a:lvl8pPr marL="12284735" indent="-818982" algn="l" defTabSz="3275929" rtl="0" eaLnBrk="1" latinLnBrk="0" hangingPunct="1">
        <a:lnSpc>
          <a:spcPct val="90000"/>
        </a:lnSpc>
        <a:spcBef>
          <a:spcPts val="1791"/>
        </a:spcBef>
        <a:buFont typeface="Arial" panose="020B0604020202020204" pitchFamily="34" charset="0"/>
        <a:buChar char="•"/>
        <a:defRPr sz="6449" kern="1200">
          <a:solidFill>
            <a:schemeClr val="tx1"/>
          </a:solidFill>
          <a:latin typeface="+mn-lt"/>
          <a:ea typeface="+mn-ea"/>
          <a:cs typeface="+mn-cs"/>
        </a:defRPr>
      </a:lvl8pPr>
      <a:lvl9pPr marL="13922700" indent="-818982" algn="l" defTabSz="3275929" rtl="0" eaLnBrk="1" latinLnBrk="0" hangingPunct="1">
        <a:lnSpc>
          <a:spcPct val="90000"/>
        </a:lnSpc>
        <a:spcBef>
          <a:spcPts val="1791"/>
        </a:spcBef>
        <a:buFont typeface="Arial" panose="020B0604020202020204" pitchFamily="34" charset="0"/>
        <a:buChar char="•"/>
        <a:defRPr sz="64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75929" rtl="0" eaLnBrk="1" latinLnBrk="0" hangingPunct="1">
        <a:defRPr sz="6449" kern="1200">
          <a:solidFill>
            <a:schemeClr val="tx1"/>
          </a:solidFill>
          <a:latin typeface="+mn-lt"/>
          <a:ea typeface="+mn-ea"/>
          <a:cs typeface="+mn-cs"/>
        </a:defRPr>
      </a:lvl1pPr>
      <a:lvl2pPr marL="1637965" algn="l" defTabSz="3275929" rtl="0" eaLnBrk="1" latinLnBrk="0" hangingPunct="1">
        <a:defRPr sz="6449" kern="1200">
          <a:solidFill>
            <a:schemeClr val="tx1"/>
          </a:solidFill>
          <a:latin typeface="+mn-lt"/>
          <a:ea typeface="+mn-ea"/>
          <a:cs typeface="+mn-cs"/>
        </a:defRPr>
      </a:lvl2pPr>
      <a:lvl3pPr marL="3275929" algn="l" defTabSz="3275929" rtl="0" eaLnBrk="1" latinLnBrk="0" hangingPunct="1">
        <a:defRPr sz="6449" kern="1200">
          <a:solidFill>
            <a:schemeClr val="tx1"/>
          </a:solidFill>
          <a:latin typeface="+mn-lt"/>
          <a:ea typeface="+mn-ea"/>
          <a:cs typeface="+mn-cs"/>
        </a:defRPr>
      </a:lvl3pPr>
      <a:lvl4pPr marL="4913894" algn="l" defTabSz="3275929" rtl="0" eaLnBrk="1" latinLnBrk="0" hangingPunct="1">
        <a:defRPr sz="6449" kern="1200">
          <a:solidFill>
            <a:schemeClr val="tx1"/>
          </a:solidFill>
          <a:latin typeface="+mn-lt"/>
          <a:ea typeface="+mn-ea"/>
          <a:cs typeface="+mn-cs"/>
        </a:defRPr>
      </a:lvl4pPr>
      <a:lvl5pPr marL="6551859" algn="l" defTabSz="3275929" rtl="0" eaLnBrk="1" latinLnBrk="0" hangingPunct="1">
        <a:defRPr sz="6449" kern="1200">
          <a:solidFill>
            <a:schemeClr val="tx1"/>
          </a:solidFill>
          <a:latin typeface="+mn-lt"/>
          <a:ea typeface="+mn-ea"/>
          <a:cs typeface="+mn-cs"/>
        </a:defRPr>
      </a:lvl5pPr>
      <a:lvl6pPr marL="8189824" algn="l" defTabSz="3275929" rtl="0" eaLnBrk="1" latinLnBrk="0" hangingPunct="1">
        <a:defRPr sz="6449" kern="1200">
          <a:solidFill>
            <a:schemeClr val="tx1"/>
          </a:solidFill>
          <a:latin typeface="+mn-lt"/>
          <a:ea typeface="+mn-ea"/>
          <a:cs typeface="+mn-cs"/>
        </a:defRPr>
      </a:lvl6pPr>
      <a:lvl7pPr marL="9827788" algn="l" defTabSz="3275929" rtl="0" eaLnBrk="1" latinLnBrk="0" hangingPunct="1">
        <a:defRPr sz="6449" kern="1200">
          <a:solidFill>
            <a:schemeClr val="tx1"/>
          </a:solidFill>
          <a:latin typeface="+mn-lt"/>
          <a:ea typeface="+mn-ea"/>
          <a:cs typeface="+mn-cs"/>
        </a:defRPr>
      </a:lvl7pPr>
      <a:lvl8pPr marL="11465753" algn="l" defTabSz="3275929" rtl="0" eaLnBrk="1" latinLnBrk="0" hangingPunct="1">
        <a:defRPr sz="6449" kern="1200">
          <a:solidFill>
            <a:schemeClr val="tx1"/>
          </a:solidFill>
          <a:latin typeface="+mn-lt"/>
          <a:ea typeface="+mn-ea"/>
          <a:cs typeface="+mn-cs"/>
        </a:defRPr>
      </a:lvl8pPr>
      <a:lvl9pPr marL="13103718" algn="l" defTabSz="3275929" rtl="0" eaLnBrk="1" latinLnBrk="0" hangingPunct="1">
        <a:defRPr sz="64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9" Type="http://schemas.openxmlformats.org/officeDocument/2006/relationships/image" Target="../media/image35.png"/><Relationship Id="rId3" Type="http://schemas.microsoft.com/office/2007/relationships/hdphoto" Target="../media/hdphoto1.wdp"/><Relationship Id="rId34" Type="http://schemas.openxmlformats.org/officeDocument/2006/relationships/image" Target="../media/image30.png"/><Relationship Id="rId133" Type="http://schemas.openxmlformats.org/officeDocument/2006/relationships/image" Target="../media/image3.png"/><Relationship Id="rId7" Type="http://schemas.openxmlformats.org/officeDocument/2006/relationships/chart" Target="../charts/chart2.xml"/><Relationship Id="rId38" Type="http://schemas.openxmlformats.org/officeDocument/2006/relationships/image" Target="../media/image34.png"/><Relationship Id="rId129" Type="http://schemas.openxmlformats.org/officeDocument/2006/relationships/image" Target="../media/image125.png"/><Relationship Id="rId2" Type="http://schemas.openxmlformats.org/officeDocument/2006/relationships/image" Target="../media/image1.png"/><Relationship Id="rId41" Type="http://schemas.openxmlformats.org/officeDocument/2006/relationships/image" Target="../media/image37.png"/><Relationship Id="rId132" Type="http://schemas.openxmlformats.org/officeDocument/2006/relationships/image" Target="../media/image128.png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.xml"/><Relationship Id="rId37" Type="http://schemas.openxmlformats.org/officeDocument/2006/relationships/image" Target="../media/image33.png"/><Relationship Id="rId128" Type="http://schemas.openxmlformats.org/officeDocument/2006/relationships/image" Target="../media/image124.png"/><Relationship Id="rId131" Type="http://schemas.openxmlformats.org/officeDocument/2006/relationships/image" Target="../media/image127.png"/><Relationship Id="rId136" Type="http://schemas.openxmlformats.org/officeDocument/2006/relationships/image" Target="../media/image5.png"/><Relationship Id="rId127" Type="http://schemas.openxmlformats.org/officeDocument/2006/relationships/image" Target="../media/image123.png"/><Relationship Id="rId130" Type="http://schemas.openxmlformats.org/officeDocument/2006/relationships/image" Target="../media/image126.png"/><Relationship Id="rId135" Type="http://schemas.openxmlformats.org/officeDocument/2006/relationships/image" Target="../media/image4.png"/><Relationship Id="rId4" Type="http://schemas.openxmlformats.org/officeDocument/2006/relationships/chart" Target="../charts/chart1.xml"/><Relationship Id="rId9" Type="http://schemas.openxmlformats.org/officeDocument/2006/relationships/image" Target="../media/image2.jpeg"/><Relationship Id="rId35" Type="http://schemas.openxmlformats.org/officeDocument/2006/relationships/image" Target="../media/image31.png"/><Relationship Id="rId134" Type="http://schemas.openxmlformats.org/officeDocument/2006/relationships/image" Target="../media/image12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Прямоугольник: скругленные углы 256">
            <a:extLst>
              <a:ext uri="{FF2B5EF4-FFF2-40B4-BE49-F238E27FC236}">
                <a16:creationId xmlns:a16="http://schemas.microsoft.com/office/drawing/2014/main" id="{9D034178-A8F4-4CB2-9D42-E6DDAFCA4427}"/>
              </a:ext>
            </a:extLst>
          </p:cNvPr>
          <p:cNvSpPr/>
          <p:nvPr/>
        </p:nvSpPr>
        <p:spPr>
          <a:xfrm>
            <a:off x="580168" y="35050566"/>
            <a:ext cx="15358803" cy="10547595"/>
          </a:xfrm>
          <a:prstGeom prst="roundRect">
            <a:avLst>
              <a:gd name="adj" fmla="val 675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793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5" name="Прямоугольник: скругленные углы 254">
            <a:extLst>
              <a:ext uri="{FF2B5EF4-FFF2-40B4-BE49-F238E27FC236}">
                <a16:creationId xmlns:a16="http://schemas.microsoft.com/office/drawing/2014/main" id="{066F8134-89BB-4D4E-A335-0C0EF2518418}"/>
              </a:ext>
            </a:extLst>
          </p:cNvPr>
          <p:cNvSpPr/>
          <p:nvPr/>
        </p:nvSpPr>
        <p:spPr>
          <a:xfrm>
            <a:off x="-32719520" y="25648053"/>
            <a:ext cx="31308238" cy="10025019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793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6" name="Прямоугольник: скругленные углы 255">
            <a:extLst>
              <a:ext uri="{FF2B5EF4-FFF2-40B4-BE49-F238E27FC236}">
                <a16:creationId xmlns:a16="http://schemas.microsoft.com/office/drawing/2014/main" id="{EB79034A-46FA-4717-94A2-704CAEFAF03A}"/>
              </a:ext>
            </a:extLst>
          </p:cNvPr>
          <p:cNvSpPr/>
          <p:nvPr/>
        </p:nvSpPr>
        <p:spPr>
          <a:xfrm>
            <a:off x="16709107" y="35128033"/>
            <a:ext cx="15358803" cy="10477667"/>
          </a:xfrm>
          <a:prstGeom prst="roundRect">
            <a:avLst>
              <a:gd name="adj" fmla="val 655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793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1" name="Прямоугольник: скругленные углы 250">
            <a:extLst>
              <a:ext uri="{FF2B5EF4-FFF2-40B4-BE49-F238E27FC236}">
                <a16:creationId xmlns:a16="http://schemas.microsoft.com/office/drawing/2014/main" id="{0103EBCA-7101-4773-B6F5-340F6FDCFAB3}"/>
              </a:ext>
            </a:extLst>
          </p:cNvPr>
          <p:cNvSpPr/>
          <p:nvPr/>
        </p:nvSpPr>
        <p:spPr>
          <a:xfrm>
            <a:off x="773571" y="13238509"/>
            <a:ext cx="31308238" cy="9625191"/>
          </a:xfrm>
          <a:prstGeom prst="roundRect">
            <a:avLst>
              <a:gd name="adj" fmla="val 7167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793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0" name="Прямоугольник: скругленные углы 249">
            <a:extLst>
              <a:ext uri="{FF2B5EF4-FFF2-40B4-BE49-F238E27FC236}">
                <a16:creationId xmlns:a16="http://schemas.microsoft.com/office/drawing/2014/main" id="{012BE871-A4D5-4B49-8CEA-2C0470D31776}"/>
              </a:ext>
            </a:extLst>
          </p:cNvPr>
          <p:cNvSpPr/>
          <p:nvPr/>
        </p:nvSpPr>
        <p:spPr>
          <a:xfrm>
            <a:off x="16709107" y="8482943"/>
            <a:ext cx="15358803" cy="4372706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793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F03BA105-DC53-4B50-91F4-664732553F9D}"/>
              </a:ext>
            </a:extLst>
          </p:cNvPr>
          <p:cNvSpPr/>
          <p:nvPr/>
        </p:nvSpPr>
        <p:spPr>
          <a:xfrm>
            <a:off x="773572" y="8475404"/>
            <a:ext cx="15358803" cy="4372706"/>
          </a:xfrm>
          <a:prstGeom prst="roundRect">
            <a:avLst>
              <a:gd name="adj" fmla="val 1213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793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3" name="Таблица 53">
            <a:extLst>
              <a:ext uri="{FF2B5EF4-FFF2-40B4-BE49-F238E27FC236}">
                <a16:creationId xmlns:a16="http://schemas.microsoft.com/office/drawing/2014/main" id="{80B955C6-1A45-4154-A474-BE665D8DF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824744"/>
              </p:ext>
            </p:extLst>
          </p:nvPr>
        </p:nvGraphicFramePr>
        <p:xfrm>
          <a:off x="773572" y="24160027"/>
          <a:ext cx="31294336" cy="106182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3584">
                  <a:extLst>
                    <a:ext uri="{9D8B030D-6E8A-4147-A177-3AD203B41FA5}">
                      <a16:colId xmlns:a16="http://schemas.microsoft.com/office/drawing/2014/main" val="466921979"/>
                    </a:ext>
                  </a:extLst>
                </a:gridCol>
                <a:gridCol w="7823584">
                  <a:extLst>
                    <a:ext uri="{9D8B030D-6E8A-4147-A177-3AD203B41FA5}">
                      <a16:colId xmlns:a16="http://schemas.microsoft.com/office/drawing/2014/main" val="4004608753"/>
                    </a:ext>
                  </a:extLst>
                </a:gridCol>
                <a:gridCol w="7823584">
                  <a:extLst>
                    <a:ext uri="{9D8B030D-6E8A-4147-A177-3AD203B41FA5}">
                      <a16:colId xmlns:a16="http://schemas.microsoft.com/office/drawing/2014/main" val="189939406"/>
                    </a:ext>
                  </a:extLst>
                </a:gridCol>
                <a:gridCol w="7823584">
                  <a:extLst>
                    <a:ext uri="{9D8B030D-6E8A-4147-A177-3AD203B41FA5}">
                      <a16:colId xmlns:a16="http://schemas.microsoft.com/office/drawing/2014/main" val="885715613"/>
                    </a:ext>
                  </a:extLst>
                </a:gridCol>
              </a:tblGrid>
              <a:tr h="780647">
                <a:tc gridSpan="3">
                  <a:txBody>
                    <a:bodyPr/>
                    <a:lstStyle/>
                    <a:p>
                      <a:pPr algn="ctr"/>
                      <a: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АСПЕКТЫ ПРОСТРАНСТВЕННОГО РАЗВИТИЯ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3000" b="1" kern="1200" dirty="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3000" b="1" kern="1200" dirty="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КОМПЛЕКСНАЯ ОЦЕНКА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39962"/>
                  </a:ext>
                </a:extLst>
              </a:tr>
              <a:tr h="967966">
                <a:tc>
                  <a:txBody>
                    <a:bodyPr/>
                    <a:lstStyle/>
                    <a:p>
                      <a:pPr algn="ctr"/>
                      <a: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ТРАНСПОРТНЫЙ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ДЕМОГРАФИЧЕСКИЙ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ПРОСТРАНСТВЕННЫЙ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КОМПЛЕКСНАЯ ОЦЕНКА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422578"/>
                  </a:ext>
                </a:extLst>
              </a:tr>
              <a:tr h="6916836">
                <a:tc>
                  <a:txBody>
                    <a:bodyPr/>
                    <a:lstStyle/>
                    <a:p>
                      <a:pPr marL="0" marR="0" lvl="0" indent="0" algn="l" defTabSz="32759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3000" dirty="0">
                        <a:latin typeface="Manrope" pitchFamily="2" charset="0"/>
                      </a:endParaRPr>
                    </a:p>
                    <a:p>
                      <a:pPr marL="0" marR="0" lvl="0" indent="0" algn="ctr" defTabSz="32759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000" dirty="0">
                          <a:latin typeface="Manrope" pitchFamily="2" charset="0"/>
                        </a:rPr>
                        <a:t>Оценка по транспортному аспекту </a:t>
                      </a:r>
                      <a:r>
                        <a:rPr lang="ru-RU" sz="3000" b="1" dirty="0">
                          <a:latin typeface="Manrope" pitchFamily="2" charset="0"/>
                        </a:rPr>
                        <a:t>(Т) </a:t>
                      </a:r>
                      <a:r>
                        <a:rPr lang="ru-RU" sz="3000" dirty="0">
                          <a:latin typeface="Manrope" pitchFamily="2" charset="0"/>
                        </a:rPr>
                        <a:t>определяет </a:t>
                      </a:r>
                      <a:r>
                        <a:rPr lang="ru-RU" sz="3000" b="1" dirty="0">
                          <a:latin typeface="Manrope" pitchFamily="2" charset="0"/>
                        </a:rPr>
                        <a:t>связность</a:t>
                      </a:r>
                      <a:r>
                        <a:rPr lang="ru-RU" sz="3000" b="0" dirty="0">
                          <a:latin typeface="Manrope" pitchFamily="2" charset="0"/>
                        </a:rPr>
                        <a:t> с ядром </a:t>
                      </a:r>
                      <a:r>
                        <a:rPr lang="ru-RU" sz="3000" dirty="0">
                          <a:latin typeface="Manrope" pitchFamily="2" charset="0"/>
                        </a:rPr>
                        <a:t>агломерации по временной доступности и разнообразию общественного транспорта</a:t>
                      </a:r>
                      <a:endParaRPr lang="ru-RU" sz="3000" b="1" kern="1200" dirty="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endParaRPr>
                    </a:p>
                    <a:p>
                      <a:endParaRPr lang="ru-RU" sz="3000" b="1" kern="1200" dirty="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endParaRPr>
                    </a:p>
                    <a:p>
                      <a:endParaRPr lang="ru-RU" sz="3000" b="1" kern="1200" dirty="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endParaRPr>
                    </a:p>
                    <a:p>
                      <a:endParaRPr lang="ru-RU" sz="3000" b="1" kern="1200" dirty="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endParaRPr>
                    </a:p>
                    <a:p>
                      <a:endParaRPr lang="ru-RU" sz="3000" b="1" kern="1200" dirty="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endParaRPr>
                    </a:p>
                    <a:p>
                      <a:endParaRPr lang="ru-RU" sz="3000" b="1" kern="1200" dirty="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endParaRPr>
                    </a:p>
                    <a:p>
                      <a:endParaRPr lang="ru-RU" sz="3000" b="1" kern="1200" dirty="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endParaRPr>
                    </a:p>
                    <a:p>
                      <a:endParaRPr lang="ru-RU" sz="3000" b="1" kern="1200" dirty="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endParaRPr>
                    </a:p>
                    <a:p>
                      <a:endParaRPr lang="ru-RU" sz="3000" b="1" kern="1200" dirty="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endParaRPr>
                    </a:p>
                    <a:p>
                      <a:endParaRPr lang="ru-RU" sz="3000" b="1" kern="1200" dirty="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3000" b="1" kern="1200" dirty="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32759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000" dirty="0">
                          <a:latin typeface="Manrope" pitchFamily="2" charset="0"/>
                        </a:rPr>
                        <a:t>Оценка по демографическому </a:t>
                      </a:r>
                      <a:br>
                        <a:rPr lang="en-US" sz="3000" dirty="0">
                          <a:latin typeface="Manrope" pitchFamily="2" charset="0"/>
                        </a:rPr>
                      </a:br>
                      <a:r>
                        <a:rPr lang="ru-RU" sz="3000" dirty="0">
                          <a:latin typeface="Manrope" pitchFamily="2" charset="0"/>
                        </a:rPr>
                        <a:t>аспекту </a:t>
                      </a:r>
                      <a:r>
                        <a:rPr lang="ru-RU" sz="3000" b="1" dirty="0">
                          <a:latin typeface="Manrope" pitchFamily="2" charset="0"/>
                        </a:rPr>
                        <a:t>(</a:t>
                      </a:r>
                      <a:r>
                        <a:rPr lang="en-US" sz="3000" b="1" dirty="0">
                          <a:latin typeface="Manrope" pitchFamily="2" charset="0"/>
                        </a:rPr>
                        <a:t>P</a:t>
                      </a:r>
                      <a:r>
                        <a:rPr lang="ru-RU" sz="3000" b="1" dirty="0">
                          <a:latin typeface="Manrope" pitchFamily="2" charset="0"/>
                        </a:rPr>
                        <a:t>) </a:t>
                      </a:r>
                      <a:r>
                        <a:rPr lang="ru-RU" sz="3000" dirty="0">
                          <a:latin typeface="Manrope" pitchFamily="2" charset="0"/>
                        </a:rPr>
                        <a:t>определяет</a:t>
                      </a:r>
                      <a:br>
                        <a:rPr lang="en-US" sz="3000" dirty="0">
                          <a:latin typeface="Manrope" pitchFamily="2" charset="0"/>
                        </a:rPr>
                      </a:br>
                      <a:r>
                        <a:rPr lang="ru-RU" sz="3000" b="1" dirty="0">
                          <a:latin typeface="Manrope" pitchFamily="2" charset="0"/>
                        </a:rPr>
                        <a:t>значимость прироста населения </a:t>
                      </a:r>
                      <a:br>
                        <a:rPr lang="en-US" sz="3000" b="1" dirty="0">
                          <a:latin typeface="Manrope" pitchFamily="2" charset="0"/>
                        </a:rPr>
                      </a:br>
                      <a:r>
                        <a:rPr lang="ru-RU" sz="3000" dirty="0">
                          <a:latin typeface="Manrope" pitchFamily="2" charset="0"/>
                        </a:rPr>
                        <a:t>в масштабе агломерации</a:t>
                      </a:r>
                    </a:p>
                    <a:p>
                      <a:endParaRPr lang="ru-RU" sz="3000" b="1" kern="1200" dirty="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3000" b="1" kern="1200" dirty="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32759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000" dirty="0">
                          <a:latin typeface="Manrope" pitchFamily="2" charset="0"/>
                        </a:rPr>
                        <a:t>Оценка по пространственному </a:t>
                      </a:r>
                      <a:br>
                        <a:rPr lang="en-US" sz="3000" dirty="0">
                          <a:latin typeface="Manrope" pitchFamily="2" charset="0"/>
                        </a:rPr>
                      </a:br>
                      <a:r>
                        <a:rPr lang="ru-RU" sz="3000" dirty="0">
                          <a:latin typeface="Manrope" pitchFamily="2" charset="0"/>
                        </a:rPr>
                        <a:t>аспекту </a:t>
                      </a:r>
                      <a:r>
                        <a:rPr lang="ru-RU" sz="3000" b="1" dirty="0">
                          <a:latin typeface="Manrope" pitchFamily="2" charset="0"/>
                        </a:rPr>
                        <a:t>(</a:t>
                      </a:r>
                      <a:r>
                        <a:rPr lang="en-US" sz="3000" b="1" dirty="0">
                          <a:latin typeface="Manrope" pitchFamily="2" charset="0"/>
                        </a:rPr>
                        <a:t>D</a:t>
                      </a:r>
                      <a:r>
                        <a:rPr lang="ru-RU" sz="3000" b="1" dirty="0">
                          <a:latin typeface="Manrope" pitchFamily="2" charset="0"/>
                        </a:rPr>
                        <a:t>) </a:t>
                      </a:r>
                      <a:r>
                        <a:rPr lang="ru-RU" sz="3000" dirty="0">
                          <a:latin typeface="Manrope" pitchFamily="2" charset="0"/>
                        </a:rPr>
                        <a:t>определяет </a:t>
                      </a:r>
                      <a:br>
                        <a:rPr lang="en-US" sz="3000" dirty="0">
                          <a:latin typeface="Manrope" pitchFamily="2" charset="0"/>
                        </a:rPr>
                      </a:br>
                      <a:r>
                        <a:rPr lang="ru-RU" sz="3000" b="1" dirty="0">
                          <a:latin typeface="Manrope" pitchFamily="2" charset="0"/>
                        </a:rPr>
                        <a:t>значимость изменения функциональных зон </a:t>
                      </a:r>
                      <a:br>
                        <a:rPr lang="ru-RU" sz="3000" b="1" dirty="0">
                          <a:latin typeface="Manrope" pitchFamily="2" charset="0"/>
                        </a:rPr>
                      </a:br>
                      <a:r>
                        <a:rPr lang="ru-RU" sz="3000" dirty="0">
                          <a:latin typeface="Manrope" pitchFamily="2" charset="0"/>
                        </a:rPr>
                        <a:t>в масштабе агломерации</a:t>
                      </a:r>
                    </a:p>
                    <a:p>
                      <a:endParaRPr lang="ru-RU" sz="3000" b="1" kern="1200" dirty="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3000" b="1" kern="1200" dirty="0">
                        <a:solidFill>
                          <a:schemeClr val="tx1"/>
                        </a:solidFill>
                        <a:latin typeface="Manrope" pitchFamily="2" charset="0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3000" b="0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Комплексная оценка </a:t>
                      </a:r>
                      <a: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R)</a:t>
                      </a:r>
                      <a: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 </a:t>
                      </a:r>
                      <a:b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</a:br>
                      <a:r>
                        <a:rPr lang="ru-RU" sz="3000" b="0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определяет </a:t>
                      </a:r>
                      <a: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степень влияния ядра </a:t>
                      </a:r>
                      <a:r>
                        <a:rPr lang="ru-RU" sz="3000" b="0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на пространственное развитие </a:t>
                      </a:r>
                      <a:br>
                        <a:rPr lang="ru-RU" sz="3000" b="0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</a:br>
                      <a:r>
                        <a:rPr lang="ru-RU" sz="3000" b="0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субъекта агломерации</a:t>
                      </a:r>
                      <a: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76448"/>
                  </a:ext>
                </a:extLst>
              </a:tr>
              <a:tr h="1911231">
                <a:tc>
                  <a:txBody>
                    <a:bodyPr/>
                    <a:lstStyle/>
                    <a:p>
                      <a:pPr marL="728663" indent="-20638" algn="ctr"/>
                      <a: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0,00-0,50</a:t>
                      </a:r>
                      <a:r>
                        <a:rPr lang="ru-RU" sz="3000" b="0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 (низкая)</a:t>
                      </a:r>
                    </a:p>
                    <a:p>
                      <a:pPr marL="728663" indent="-20638" algn="ctr"/>
                      <a: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0,50-1,50</a:t>
                      </a:r>
                      <a:r>
                        <a:rPr lang="ru-RU" sz="3000" b="0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(средняя)</a:t>
                      </a:r>
                    </a:p>
                    <a:p>
                      <a:pPr marL="728663" indent="-20638" algn="ctr"/>
                      <a:r>
                        <a:rPr lang="en-US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&gt;</a:t>
                      </a:r>
                      <a: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1,50</a:t>
                      </a:r>
                      <a:r>
                        <a:rPr lang="ru-RU" sz="3000" b="0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(высокая)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0,00-0,10</a:t>
                      </a:r>
                      <a:r>
                        <a:rPr lang="ru-RU" sz="3000" b="0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(низкая)</a:t>
                      </a:r>
                    </a:p>
                    <a:p>
                      <a:pPr algn="ctr"/>
                      <a: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0,10-1,00</a:t>
                      </a:r>
                      <a:r>
                        <a:rPr lang="ru-RU" sz="3000" b="0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(средняя)</a:t>
                      </a:r>
                    </a:p>
                    <a:p>
                      <a:pPr algn="ctr"/>
                      <a:r>
                        <a:rPr lang="en-US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&gt;</a:t>
                      </a:r>
                      <a: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1,00</a:t>
                      </a:r>
                      <a:r>
                        <a:rPr lang="en-US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3000" b="0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3000" b="0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высокая)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0,00-0,30</a:t>
                      </a:r>
                      <a:r>
                        <a:rPr lang="ru-RU" sz="3000" b="0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(низкая)</a:t>
                      </a:r>
                    </a:p>
                    <a:p>
                      <a:pPr algn="ctr"/>
                      <a: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0,30-0,90</a:t>
                      </a:r>
                      <a:r>
                        <a:rPr lang="ru-RU" sz="3000" b="0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(средняя)</a:t>
                      </a:r>
                    </a:p>
                    <a:p>
                      <a:pPr algn="ctr"/>
                      <a:r>
                        <a:rPr lang="en-US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&gt;0,90</a:t>
                      </a:r>
                      <a:r>
                        <a:rPr lang="en-US" sz="3000" b="0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3000" b="0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высокая)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0,00-1,50 </a:t>
                      </a:r>
                      <a:r>
                        <a:rPr lang="ru-RU" sz="3000" b="0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(низкая)</a:t>
                      </a:r>
                    </a:p>
                    <a:p>
                      <a:pPr marL="0" marR="0" lvl="0" indent="0" algn="ctr" defTabSz="32759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1,50-3,00 </a:t>
                      </a:r>
                      <a:r>
                        <a:rPr lang="ru-RU" sz="3000" b="0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(средняя)</a:t>
                      </a:r>
                    </a:p>
                    <a:p>
                      <a:pPr marL="0" marR="0" lvl="0" indent="0" algn="ctr" defTabSz="32759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3,00-4,50 </a:t>
                      </a:r>
                      <a:r>
                        <a:rPr lang="ru-RU" sz="3000" b="0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(высокая)</a:t>
                      </a:r>
                    </a:p>
                    <a:p>
                      <a:pPr marL="0" marR="0" lvl="0" indent="0" algn="ctr" defTabSz="32759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&gt;</a:t>
                      </a:r>
                      <a:r>
                        <a:rPr lang="ru-RU" sz="3000" b="1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4,50 </a:t>
                      </a:r>
                      <a:r>
                        <a:rPr lang="ru-RU" sz="3000" b="0" kern="1200" dirty="0">
                          <a:solidFill>
                            <a:schemeClr val="tx1"/>
                          </a:solidFill>
                          <a:latin typeface="Manrope" pitchFamily="2" charset="0"/>
                          <a:ea typeface="+mn-ea"/>
                          <a:cs typeface="+mn-cs"/>
                        </a:rPr>
                        <a:t>(очень высокая)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999341"/>
                  </a:ext>
                </a:extLst>
              </a:tr>
            </a:tbl>
          </a:graphicData>
        </a:graphic>
      </p:graphicFrame>
      <p:graphicFrame>
        <p:nvGraphicFramePr>
          <p:cNvPr id="23" name="Таблица 23">
            <a:extLst>
              <a:ext uri="{FF2B5EF4-FFF2-40B4-BE49-F238E27FC236}">
                <a16:creationId xmlns:a16="http://schemas.microsoft.com/office/drawing/2014/main" id="{6D1759A5-E509-4F84-B8DE-BF6599FF3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432523"/>
              </p:ext>
            </p:extLst>
          </p:nvPr>
        </p:nvGraphicFramePr>
        <p:xfrm>
          <a:off x="34953604" y="33587102"/>
          <a:ext cx="15120000" cy="171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74524269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95197995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16283234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97073563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7699234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69350423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78992616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08625843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53244892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36831793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91195994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94766424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75160241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408938031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66101114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2826597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53849380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21081749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89281733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199750696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28368721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49771983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51037309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65601131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891733606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5118083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06750363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98978311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92187398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414186806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202353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3838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06718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70495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57024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71301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45668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8719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51499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3669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00896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75324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88892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1002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27562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29282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04524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11656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99128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09234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19441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4431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61745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90604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11388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0136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95988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73200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40707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28217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80879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57147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848086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98288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204B34D-F1F6-4E2E-934D-27263D32944A}"/>
              </a:ext>
            </a:extLst>
          </p:cNvPr>
          <p:cNvSpPr txBox="1"/>
          <p:nvPr/>
        </p:nvSpPr>
        <p:spPr>
          <a:xfrm>
            <a:off x="855406" y="1297858"/>
            <a:ext cx="311306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0" dirty="0">
                <a:latin typeface="Montserrat SemiBold" pitchFamily="2" charset="-52"/>
              </a:rPr>
              <a:t>Определение структурных элементов</a:t>
            </a:r>
          </a:p>
          <a:p>
            <a:r>
              <a:rPr lang="ru-RU" sz="8000" dirty="0">
                <a:latin typeface="Montserrat SemiBold" pitchFamily="2" charset="-52"/>
              </a:rPr>
              <a:t>городских агломераций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095675-17DE-42B2-8FEB-222F399549CA}"/>
              </a:ext>
            </a:extLst>
          </p:cNvPr>
          <p:cNvSpPr txBox="1"/>
          <p:nvPr/>
        </p:nvSpPr>
        <p:spPr>
          <a:xfrm>
            <a:off x="4045974" y="5149781"/>
            <a:ext cx="128556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>
                <a:latin typeface="Manrope" pitchFamily="2" charset="0"/>
              </a:rPr>
              <a:t>Дубинин Роман Владимирович</a:t>
            </a:r>
            <a:endParaRPr lang="en-US" sz="3000" b="1" dirty="0">
              <a:latin typeface="Manrope" pitchFamily="2" charset="0"/>
            </a:endParaRPr>
          </a:p>
          <a:p>
            <a:r>
              <a:rPr lang="ru-RU" sz="3000" dirty="0">
                <a:latin typeface="Manrope" pitchFamily="2" charset="0"/>
              </a:rPr>
              <a:t>группа </a:t>
            </a:r>
            <a:r>
              <a:rPr lang="en-US" sz="3000" dirty="0">
                <a:latin typeface="Manrope" pitchFamily="2" charset="0"/>
              </a:rPr>
              <a:t>C4207,</a:t>
            </a:r>
            <a:r>
              <a:rPr lang="ru-RU" sz="3000" dirty="0">
                <a:latin typeface="Manrope" pitchFamily="2" charset="0"/>
              </a:rPr>
              <a:t> направление «Градостроительство»</a:t>
            </a:r>
          </a:p>
          <a:p>
            <a:r>
              <a:rPr lang="ru-RU" sz="3000" dirty="0">
                <a:latin typeface="Manrope" pitchFamily="2" charset="0"/>
              </a:rPr>
              <a:t>Почта </a:t>
            </a:r>
            <a:r>
              <a:rPr lang="en-US" sz="3000" dirty="0">
                <a:latin typeface="Manrope" pitchFamily="2" charset="0"/>
              </a:rPr>
              <a:t>DubininRoman99@mail.ru</a:t>
            </a:r>
            <a:endParaRPr lang="ru-RU" sz="3000" dirty="0">
              <a:latin typeface="Manrope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5F3698-2078-4037-A255-EE65794C4C91}"/>
              </a:ext>
            </a:extLst>
          </p:cNvPr>
          <p:cNvSpPr txBox="1"/>
          <p:nvPr/>
        </p:nvSpPr>
        <p:spPr>
          <a:xfrm>
            <a:off x="19212232" y="5149781"/>
            <a:ext cx="142238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>
                <a:latin typeface="Manrope" pitchFamily="2" charset="0"/>
              </a:rPr>
              <a:t>Воронин Данил Валерьевич</a:t>
            </a:r>
            <a:endParaRPr lang="en-US" sz="3000" b="1" dirty="0">
              <a:latin typeface="Manrope" pitchFamily="2" charset="0"/>
            </a:endParaRPr>
          </a:p>
          <a:p>
            <a:r>
              <a:rPr lang="ru-RU" sz="3000" dirty="0">
                <a:latin typeface="Manrope" pitchFamily="2" charset="0"/>
              </a:rPr>
              <a:t>инженер, преподаватель, </a:t>
            </a:r>
          </a:p>
          <a:p>
            <a:r>
              <a:rPr lang="ru-RU" sz="3000" b="1" dirty="0" err="1">
                <a:latin typeface="Manrope" pitchFamily="2" charset="0"/>
              </a:rPr>
              <a:t>Чичкова</a:t>
            </a:r>
            <a:r>
              <a:rPr lang="ru-RU" sz="3000" b="1" dirty="0">
                <a:latin typeface="Manrope" pitchFamily="2" charset="0"/>
              </a:rPr>
              <a:t> Наталья Андреевна</a:t>
            </a:r>
          </a:p>
          <a:p>
            <a:r>
              <a:rPr lang="ru-RU" sz="3000" dirty="0">
                <a:latin typeface="Manrope" pitchFamily="2" charset="0"/>
              </a:rPr>
              <a:t>инженер, преподаватель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8CDB57-DC36-4BAE-B322-BF63669E2E19}"/>
              </a:ext>
            </a:extLst>
          </p:cNvPr>
          <p:cNvSpPr txBox="1"/>
          <p:nvPr/>
        </p:nvSpPr>
        <p:spPr>
          <a:xfrm>
            <a:off x="9625780" y="46568168"/>
            <a:ext cx="12855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Manrope" pitchFamily="2" charset="0"/>
              </a:rPr>
              <a:t>ссылка на материалы исследования: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2BC70BE-DDF9-414A-AC9F-6D2AE63F36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0168" y="46287246"/>
            <a:ext cx="4886571" cy="2933701"/>
          </a:xfrm>
          <a:prstGeom prst="rect">
            <a:avLst/>
          </a:prstGeom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D6843A2-44D0-4FAC-9786-A3E5236A3791}"/>
              </a:ext>
            </a:extLst>
          </p:cNvPr>
          <p:cNvCxnSpPr/>
          <p:nvPr/>
        </p:nvCxnSpPr>
        <p:spPr>
          <a:xfrm>
            <a:off x="855406" y="45605700"/>
            <a:ext cx="31212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B72B01A7-8D8D-4A30-BF50-DEFDF9A3E124}"/>
              </a:ext>
            </a:extLst>
          </p:cNvPr>
          <p:cNvCxnSpPr/>
          <p:nvPr/>
        </p:nvCxnSpPr>
        <p:spPr>
          <a:xfrm>
            <a:off x="773573" y="8513192"/>
            <a:ext cx="31212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87CE590-74C9-451A-9341-26663D26B906}"/>
              </a:ext>
            </a:extLst>
          </p:cNvPr>
          <p:cNvSpPr txBox="1"/>
          <p:nvPr/>
        </p:nvSpPr>
        <p:spPr>
          <a:xfrm>
            <a:off x="1220311" y="9143954"/>
            <a:ext cx="14530966" cy="3621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3000" dirty="0">
                <a:latin typeface="Manrope" pitchFamily="2" charset="0"/>
              </a:rPr>
              <a:t>Общемировой тренд на рост больших городов обуславливает необходимость поиска методов определения структуры агломераций для регулирования их пространственного развития. </a:t>
            </a:r>
          </a:p>
          <a:p>
            <a:pPr>
              <a:lnSpc>
                <a:spcPct val="110000"/>
              </a:lnSpc>
            </a:pPr>
            <a:r>
              <a:rPr lang="ru-RU" sz="3000" b="1" dirty="0">
                <a:ln w="0"/>
                <a:latin typeface="Manrope" pitchFamily="2" charset="0"/>
              </a:rPr>
              <a:t>55% населения мира </a:t>
            </a:r>
            <a:br>
              <a:rPr lang="ru-RU" sz="3000" dirty="0">
                <a:ln w="0"/>
                <a:latin typeface="Manrope" pitchFamily="2" charset="0"/>
              </a:rPr>
            </a:br>
            <a:r>
              <a:rPr lang="ru-RU" sz="3000" dirty="0">
                <a:ln w="0"/>
                <a:latin typeface="Manrope" pitchFamily="2" charset="0"/>
              </a:rPr>
              <a:t>в 2025 году приходится на агломерации (прогноз до 68% в 2050 году).</a:t>
            </a:r>
          </a:p>
          <a:p>
            <a:pPr>
              <a:lnSpc>
                <a:spcPct val="110000"/>
              </a:lnSpc>
            </a:pPr>
            <a:r>
              <a:rPr lang="ru-RU" sz="3000" b="1" dirty="0">
                <a:ln w="0"/>
                <a:latin typeface="Manrope" pitchFamily="2" charset="0"/>
              </a:rPr>
              <a:t>более 75% россиян </a:t>
            </a:r>
          </a:p>
          <a:p>
            <a:pPr>
              <a:lnSpc>
                <a:spcPct val="110000"/>
              </a:lnSpc>
            </a:pPr>
            <a:r>
              <a:rPr lang="ru-RU" sz="3000" dirty="0">
                <a:ln w="0"/>
                <a:latin typeface="Manrope" pitchFamily="2" charset="0"/>
              </a:rPr>
              <a:t>уже проживает в агломерациях</a:t>
            </a:r>
            <a:endParaRPr lang="ru-RU" sz="3000" dirty="0">
              <a:latin typeface="Manrope" pitchFamily="2" charset="0"/>
            </a:endParaRP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A6A71541-A83E-48D7-90F6-0C96D60ADFC9}"/>
              </a:ext>
            </a:extLst>
          </p:cNvPr>
          <p:cNvGrpSpPr/>
          <p:nvPr/>
        </p:nvGrpSpPr>
        <p:grpSpPr>
          <a:xfrm>
            <a:off x="24041273" y="36106054"/>
            <a:ext cx="7212974" cy="9015817"/>
            <a:chOff x="17601543" y="12381974"/>
            <a:chExt cx="6230913" cy="7335626"/>
          </a:xfrm>
        </p:grpSpPr>
        <p:sp>
          <p:nvSpPr>
            <p:cNvPr id="223" name="Прямоугольник: скругленные углы 222">
              <a:extLst>
                <a:ext uri="{FF2B5EF4-FFF2-40B4-BE49-F238E27FC236}">
                  <a16:creationId xmlns:a16="http://schemas.microsoft.com/office/drawing/2014/main" id="{167CD413-7E0B-422F-94C6-CB069FC57E50}"/>
                </a:ext>
              </a:extLst>
            </p:cNvPr>
            <p:cNvSpPr/>
            <p:nvPr/>
          </p:nvSpPr>
          <p:spPr>
            <a:xfrm>
              <a:off x="17601543" y="13169020"/>
              <a:ext cx="6229170" cy="604262"/>
            </a:xfrm>
            <a:prstGeom prst="roundRect">
              <a:avLst/>
            </a:prstGeom>
            <a:solidFill>
              <a:srgbClr val="C4D4E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ru-RU" sz="20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Постановка целей и задач в Стратегии пространственного развития страны</a:t>
              </a:r>
            </a:p>
          </p:txBody>
        </p:sp>
        <p:sp>
          <p:nvSpPr>
            <p:cNvPr id="224" name="Прямоугольник: скругленные углы 223">
              <a:extLst>
                <a:ext uri="{FF2B5EF4-FFF2-40B4-BE49-F238E27FC236}">
                  <a16:creationId xmlns:a16="http://schemas.microsoft.com/office/drawing/2014/main" id="{454779CB-0170-4F49-A969-F78E27327DBF}"/>
                </a:ext>
              </a:extLst>
            </p:cNvPr>
            <p:cNvSpPr/>
            <p:nvPr/>
          </p:nvSpPr>
          <p:spPr>
            <a:xfrm>
              <a:off x="17601551" y="14022313"/>
              <a:ext cx="6229170" cy="604262"/>
            </a:xfrm>
            <a:prstGeom prst="roundRect">
              <a:avLst/>
            </a:prstGeom>
            <a:solidFill>
              <a:srgbClr val="C4D4E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ru-RU" sz="20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Постановка целей и задач для крупных агломераций</a:t>
              </a:r>
            </a:p>
          </p:txBody>
        </p:sp>
        <p:cxnSp>
          <p:nvCxnSpPr>
            <p:cNvPr id="225" name="Прямая со стрелкой 224">
              <a:extLst>
                <a:ext uri="{FF2B5EF4-FFF2-40B4-BE49-F238E27FC236}">
                  <a16:creationId xmlns:a16="http://schemas.microsoft.com/office/drawing/2014/main" id="{33027EA6-5197-4E22-A295-F644770FBF22}"/>
                </a:ext>
              </a:extLst>
            </p:cNvPr>
            <p:cNvCxnSpPr>
              <a:cxnSpLocks/>
              <a:stCxn id="223" idx="2"/>
              <a:endCxn id="224" idx="0"/>
            </p:cNvCxnSpPr>
            <p:nvPr/>
          </p:nvCxnSpPr>
          <p:spPr>
            <a:xfrm>
              <a:off x="20716128" y="13773282"/>
              <a:ext cx="8" cy="249031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6" name="Прямоугольник: скругленные углы 225">
              <a:extLst>
                <a:ext uri="{FF2B5EF4-FFF2-40B4-BE49-F238E27FC236}">
                  <a16:creationId xmlns:a16="http://schemas.microsoft.com/office/drawing/2014/main" id="{DC0D94E5-855B-4B0F-9BED-ABD812DA7C7F}"/>
                </a:ext>
              </a:extLst>
            </p:cNvPr>
            <p:cNvSpPr/>
            <p:nvPr/>
          </p:nvSpPr>
          <p:spPr>
            <a:xfrm>
              <a:off x="20716128" y="16201349"/>
              <a:ext cx="3032137" cy="604262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ru-RU" sz="20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Определение структурных элементов агломерации</a:t>
              </a:r>
            </a:p>
          </p:txBody>
        </p:sp>
        <p:sp>
          <p:nvSpPr>
            <p:cNvPr id="227" name="Прямоугольник: скругленные углы 226">
              <a:extLst>
                <a:ext uri="{FF2B5EF4-FFF2-40B4-BE49-F238E27FC236}">
                  <a16:creationId xmlns:a16="http://schemas.microsoft.com/office/drawing/2014/main" id="{8EE8A7A3-E2C3-4F64-A63C-B92FD5C0A78C}"/>
                </a:ext>
              </a:extLst>
            </p:cNvPr>
            <p:cNvSpPr/>
            <p:nvPr/>
          </p:nvSpPr>
          <p:spPr>
            <a:xfrm>
              <a:off x="17603278" y="16201350"/>
              <a:ext cx="3012378" cy="604262"/>
            </a:xfrm>
            <a:prstGeom prst="roundRect">
              <a:avLst/>
            </a:prstGeom>
            <a:solidFill>
              <a:srgbClr val="C4D4E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ru-RU" sz="20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Постановка целей и задач для всей агломерации </a:t>
              </a:r>
            </a:p>
          </p:txBody>
        </p:sp>
        <p:sp>
          <p:nvSpPr>
            <p:cNvPr id="228" name="Прямоугольник: скругленные углы 227">
              <a:extLst>
                <a:ext uri="{FF2B5EF4-FFF2-40B4-BE49-F238E27FC236}">
                  <a16:creationId xmlns:a16="http://schemas.microsoft.com/office/drawing/2014/main" id="{2DB162B3-88B7-4C4C-AFF9-41E97A8B4110}"/>
                </a:ext>
              </a:extLst>
            </p:cNvPr>
            <p:cNvSpPr/>
            <p:nvPr/>
          </p:nvSpPr>
          <p:spPr>
            <a:xfrm>
              <a:off x="17601543" y="14869009"/>
              <a:ext cx="6229170" cy="604262"/>
            </a:xfrm>
            <a:prstGeom prst="roundRect">
              <a:avLst/>
            </a:prstGeom>
            <a:solidFill>
              <a:srgbClr val="C4D4E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ru-RU" sz="20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Разработка концепции пространственного развития конкретной агломерации</a:t>
              </a:r>
            </a:p>
          </p:txBody>
        </p:sp>
        <p:cxnSp>
          <p:nvCxnSpPr>
            <p:cNvPr id="229" name="Прямая со стрелкой 228">
              <a:extLst>
                <a:ext uri="{FF2B5EF4-FFF2-40B4-BE49-F238E27FC236}">
                  <a16:creationId xmlns:a16="http://schemas.microsoft.com/office/drawing/2014/main" id="{ABEB9BC4-23BE-48FD-B2EF-7669651ACE3E}"/>
                </a:ext>
              </a:extLst>
            </p:cNvPr>
            <p:cNvCxnSpPr>
              <a:cxnSpLocks/>
              <a:stCxn id="224" idx="2"/>
              <a:endCxn id="228" idx="0"/>
            </p:cNvCxnSpPr>
            <p:nvPr/>
          </p:nvCxnSpPr>
          <p:spPr>
            <a:xfrm flipH="1">
              <a:off x="20716128" y="14626575"/>
              <a:ext cx="8" cy="242434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0" name="Прямоугольник: скругленные углы 229">
              <a:extLst>
                <a:ext uri="{FF2B5EF4-FFF2-40B4-BE49-F238E27FC236}">
                  <a16:creationId xmlns:a16="http://schemas.microsoft.com/office/drawing/2014/main" id="{682F5993-281D-4E23-82AF-78F79A68F534}"/>
                </a:ext>
              </a:extLst>
            </p:cNvPr>
            <p:cNvSpPr/>
            <p:nvPr/>
          </p:nvSpPr>
          <p:spPr>
            <a:xfrm>
              <a:off x="17603286" y="17365534"/>
              <a:ext cx="6229170" cy="604262"/>
            </a:xfrm>
            <a:prstGeom prst="roundRect">
              <a:avLst/>
            </a:prstGeom>
            <a:solidFill>
              <a:srgbClr val="C4D4E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ru-RU" sz="20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Выводы и рекомендации по пространственному развитию субъектов агломерации </a:t>
              </a:r>
            </a:p>
          </p:txBody>
        </p:sp>
        <p:sp>
          <p:nvSpPr>
            <p:cNvPr id="231" name="Прямоугольник: скругленные углы 230">
              <a:extLst>
                <a:ext uri="{FF2B5EF4-FFF2-40B4-BE49-F238E27FC236}">
                  <a16:creationId xmlns:a16="http://schemas.microsoft.com/office/drawing/2014/main" id="{D1FAF2EA-3940-4DA5-96DD-B6DE28E10584}"/>
                </a:ext>
              </a:extLst>
            </p:cNvPr>
            <p:cNvSpPr/>
            <p:nvPr/>
          </p:nvSpPr>
          <p:spPr>
            <a:xfrm>
              <a:off x="17603278" y="18226515"/>
              <a:ext cx="6229170" cy="604262"/>
            </a:xfrm>
            <a:prstGeom prst="roundRect">
              <a:avLst/>
            </a:prstGeom>
            <a:solidFill>
              <a:srgbClr val="C4D4E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ru-RU" sz="20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Разработка документов территориального планирования субъектов агломерации </a:t>
              </a:r>
            </a:p>
          </p:txBody>
        </p:sp>
        <p:cxnSp>
          <p:nvCxnSpPr>
            <p:cNvPr id="232" name="Прямая со стрелкой 231">
              <a:extLst>
                <a:ext uri="{FF2B5EF4-FFF2-40B4-BE49-F238E27FC236}">
                  <a16:creationId xmlns:a16="http://schemas.microsoft.com/office/drawing/2014/main" id="{D47141C2-FD24-47C6-839C-8904259A7D91}"/>
                </a:ext>
              </a:extLst>
            </p:cNvPr>
            <p:cNvCxnSpPr>
              <a:cxnSpLocks/>
              <a:endCxn id="226" idx="0"/>
            </p:cNvCxnSpPr>
            <p:nvPr/>
          </p:nvCxnSpPr>
          <p:spPr>
            <a:xfrm>
              <a:off x="22232197" y="15824448"/>
              <a:ext cx="0" cy="376901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3" name="Прямая со стрелкой 232">
              <a:extLst>
                <a:ext uri="{FF2B5EF4-FFF2-40B4-BE49-F238E27FC236}">
                  <a16:creationId xmlns:a16="http://schemas.microsoft.com/office/drawing/2014/main" id="{CA9B539C-3BE6-489D-B068-445A0106A665}"/>
                </a:ext>
              </a:extLst>
            </p:cNvPr>
            <p:cNvCxnSpPr>
              <a:cxnSpLocks/>
              <a:endCxn id="227" idx="0"/>
            </p:cNvCxnSpPr>
            <p:nvPr/>
          </p:nvCxnSpPr>
          <p:spPr>
            <a:xfrm>
              <a:off x="19109466" y="15824448"/>
              <a:ext cx="1" cy="376902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4" name="Соединитель: уступ 233">
              <a:extLst>
                <a:ext uri="{FF2B5EF4-FFF2-40B4-BE49-F238E27FC236}">
                  <a16:creationId xmlns:a16="http://schemas.microsoft.com/office/drawing/2014/main" id="{D44032A4-DBAB-47EE-A164-06AAC8DB37CB}"/>
                </a:ext>
              </a:extLst>
            </p:cNvPr>
            <p:cNvCxnSpPr>
              <a:cxnSpLocks/>
              <a:stCxn id="226" idx="2"/>
              <a:endCxn id="230" idx="0"/>
            </p:cNvCxnSpPr>
            <p:nvPr/>
          </p:nvCxnSpPr>
          <p:spPr>
            <a:xfrm rot="5400000">
              <a:off x="21195073" y="16328409"/>
              <a:ext cx="559923" cy="1514326"/>
            </a:xfrm>
            <a:prstGeom prst="bentConnector3">
              <a:avLst>
                <a:gd name="adj1" fmla="val 61908"/>
              </a:avLst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5" name="Соединитель: уступ 234">
              <a:extLst>
                <a:ext uri="{FF2B5EF4-FFF2-40B4-BE49-F238E27FC236}">
                  <a16:creationId xmlns:a16="http://schemas.microsoft.com/office/drawing/2014/main" id="{9E632F1E-7AA1-44A8-8B34-31718A083590}"/>
                </a:ext>
              </a:extLst>
            </p:cNvPr>
            <p:cNvCxnSpPr>
              <a:cxnSpLocks/>
              <a:stCxn id="227" idx="2"/>
              <a:endCxn id="230" idx="0"/>
            </p:cNvCxnSpPr>
            <p:nvPr/>
          </p:nvCxnSpPr>
          <p:spPr>
            <a:xfrm rot="16200000" flipH="1">
              <a:off x="19633708" y="16281371"/>
              <a:ext cx="559922" cy="1608404"/>
            </a:xfrm>
            <a:prstGeom prst="bentConnector3">
              <a:avLst>
                <a:gd name="adj1" fmla="val 61908"/>
              </a:avLst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6" name="Прямая со стрелкой 235">
              <a:extLst>
                <a:ext uri="{FF2B5EF4-FFF2-40B4-BE49-F238E27FC236}">
                  <a16:creationId xmlns:a16="http://schemas.microsoft.com/office/drawing/2014/main" id="{F1D54B64-2BFB-4042-A608-652AF3A0369E}"/>
                </a:ext>
              </a:extLst>
            </p:cNvPr>
            <p:cNvCxnSpPr>
              <a:cxnSpLocks/>
              <a:stCxn id="230" idx="2"/>
              <a:endCxn id="231" idx="0"/>
            </p:cNvCxnSpPr>
            <p:nvPr/>
          </p:nvCxnSpPr>
          <p:spPr>
            <a:xfrm flipH="1">
              <a:off x="20717863" y="17969796"/>
              <a:ext cx="8" cy="256719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7" name="Прямая со стрелкой 236">
              <a:extLst>
                <a:ext uri="{FF2B5EF4-FFF2-40B4-BE49-F238E27FC236}">
                  <a16:creationId xmlns:a16="http://schemas.microsoft.com/office/drawing/2014/main" id="{E2F29D34-1425-4AEA-B4BB-9F7A248D4C02}"/>
                </a:ext>
              </a:extLst>
            </p:cNvPr>
            <p:cNvCxnSpPr>
              <a:cxnSpLocks/>
              <a:endCxn id="223" idx="0"/>
            </p:cNvCxnSpPr>
            <p:nvPr/>
          </p:nvCxnSpPr>
          <p:spPr>
            <a:xfrm>
              <a:off x="20714393" y="12839630"/>
              <a:ext cx="1735" cy="329390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" name="Блок-схема: узел 3">
              <a:extLst>
                <a:ext uri="{FF2B5EF4-FFF2-40B4-BE49-F238E27FC236}">
                  <a16:creationId xmlns:a16="http://schemas.microsoft.com/office/drawing/2014/main" id="{60C134A2-C595-482A-A891-42D964D10A65}"/>
                </a:ext>
              </a:extLst>
            </p:cNvPr>
            <p:cNvSpPr>
              <a:spLocks/>
            </p:cNvSpPr>
            <p:nvPr/>
          </p:nvSpPr>
          <p:spPr>
            <a:xfrm>
              <a:off x="20566037" y="12381974"/>
              <a:ext cx="466478" cy="439365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>
                <a:latin typeface="Manrope" pitchFamily="2" charset="0"/>
              </a:endParaRPr>
            </a:p>
          </p:txBody>
        </p:sp>
        <p:cxnSp>
          <p:nvCxnSpPr>
            <p:cNvPr id="238" name="Прямая со стрелкой 237">
              <a:extLst>
                <a:ext uri="{FF2B5EF4-FFF2-40B4-BE49-F238E27FC236}">
                  <a16:creationId xmlns:a16="http://schemas.microsoft.com/office/drawing/2014/main" id="{57F5207F-4A0C-47E8-B79A-5CAAA16906CC}"/>
                </a:ext>
              </a:extLst>
            </p:cNvPr>
            <p:cNvCxnSpPr>
              <a:cxnSpLocks/>
              <a:stCxn id="231" idx="2"/>
              <a:endCxn id="239" idx="0"/>
            </p:cNvCxnSpPr>
            <p:nvPr/>
          </p:nvCxnSpPr>
          <p:spPr>
            <a:xfrm>
              <a:off x="20717862" y="18830777"/>
              <a:ext cx="84883" cy="323672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9" name="Блок-схема: узел 238">
              <a:extLst>
                <a:ext uri="{FF2B5EF4-FFF2-40B4-BE49-F238E27FC236}">
                  <a16:creationId xmlns:a16="http://schemas.microsoft.com/office/drawing/2014/main" id="{1156AF4A-24FC-4723-85CA-46D919EA3E67}"/>
                </a:ext>
              </a:extLst>
            </p:cNvPr>
            <p:cNvSpPr>
              <a:spLocks/>
            </p:cNvSpPr>
            <p:nvPr/>
          </p:nvSpPr>
          <p:spPr>
            <a:xfrm>
              <a:off x="20569507" y="19154448"/>
              <a:ext cx="466478" cy="439365"/>
            </a:xfrm>
            <a:prstGeom prst="flowChartConnector">
              <a:avLst/>
            </a:prstGeom>
            <a:solidFill>
              <a:schemeClr val="tx1">
                <a:alpha val="0"/>
              </a:schemeClr>
            </a:solidFill>
            <a:ln w="444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>
                <a:latin typeface="Manrope" pitchFamily="2" charset="0"/>
              </a:endParaRPr>
            </a:p>
          </p:txBody>
        </p:sp>
        <p:sp>
          <p:nvSpPr>
            <p:cNvPr id="240" name="Блок-схема: узел 239">
              <a:extLst>
                <a:ext uri="{FF2B5EF4-FFF2-40B4-BE49-F238E27FC236}">
                  <a16:creationId xmlns:a16="http://schemas.microsoft.com/office/drawing/2014/main" id="{8BE43E1E-9FD8-4CD9-A084-CDE2427D3A32}"/>
                </a:ext>
              </a:extLst>
            </p:cNvPr>
            <p:cNvSpPr>
              <a:spLocks/>
            </p:cNvSpPr>
            <p:nvPr/>
          </p:nvSpPr>
          <p:spPr>
            <a:xfrm>
              <a:off x="20643684" y="19278235"/>
              <a:ext cx="466478" cy="439365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>
                <a:latin typeface="Manrope" pitchFamily="2" charset="0"/>
              </a:endParaRPr>
            </a:p>
          </p:txBody>
        </p: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8E35E865-43DD-45BC-BE4F-86D76F297A23}"/>
                </a:ext>
              </a:extLst>
            </p:cNvPr>
            <p:cNvCxnSpPr>
              <a:cxnSpLocks/>
            </p:cNvCxnSpPr>
            <p:nvPr/>
          </p:nvCxnSpPr>
          <p:spPr>
            <a:xfrm>
              <a:off x="17601543" y="17107007"/>
              <a:ext cx="6229170" cy="0"/>
            </a:xfrm>
            <a:prstGeom prst="line">
              <a:avLst/>
            </a:prstGeom>
            <a:ln w="1016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Прямая соединительная линия 240">
              <a:extLst>
                <a:ext uri="{FF2B5EF4-FFF2-40B4-BE49-F238E27FC236}">
                  <a16:creationId xmlns:a16="http://schemas.microsoft.com/office/drawing/2014/main" id="{D565FE11-38F6-4B57-9FED-B1EB2F9F32A8}"/>
                </a:ext>
              </a:extLst>
            </p:cNvPr>
            <p:cNvCxnSpPr>
              <a:cxnSpLocks/>
            </p:cNvCxnSpPr>
            <p:nvPr/>
          </p:nvCxnSpPr>
          <p:spPr>
            <a:xfrm>
              <a:off x="17601543" y="15786754"/>
              <a:ext cx="6229170" cy="0"/>
            </a:xfrm>
            <a:prstGeom prst="line">
              <a:avLst/>
            </a:prstGeom>
            <a:ln w="1016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Прямая со стрелкой 241">
              <a:extLst>
                <a:ext uri="{FF2B5EF4-FFF2-40B4-BE49-F238E27FC236}">
                  <a16:creationId xmlns:a16="http://schemas.microsoft.com/office/drawing/2014/main" id="{FC811D26-2A8C-4C53-87FB-770F75BE287E}"/>
                </a:ext>
              </a:extLst>
            </p:cNvPr>
            <p:cNvCxnSpPr>
              <a:cxnSpLocks/>
              <a:stCxn id="227" idx="2"/>
            </p:cNvCxnSpPr>
            <p:nvPr/>
          </p:nvCxnSpPr>
          <p:spPr>
            <a:xfrm>
              <a:off x="19109467" y="16805612"/>
              <a:ext cx="0" cy="256719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3" name="Прямая со стрелкой 242">
              <a:extLst>
                <a:ext uri="{FF2B5EF4-FFF2-40B4-BE49-F238E27FC236}">
                  <a16:creationId xmlns:a16="http://schemas.microsoft.com/office/drawing/2014/main" id="{08DB22C9-17AA-42B2-92E6-69FFD59D7A94}"/>
                </a:ext>
              </a:extLst>
            </p:cNvPr>
            <p:cNvCxnSpPr>
              <a:cxnSpLocks/>
              <a:stCxn id="226" idx="2"/>
            </p:cNvCxnSpPr>
            <p:nvPr/>
          </p:nvCxnSpPr>
          <p:spPr>
            <a:xfrm>
              <a:off x="22232197" y="16805611"/>
              <a:ext cx="0" cy="251567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2" name="Прямая со стрелкой 251">
              <a:extLst>
                <a:ext uri="{FF2B5EF4-FFF2-40B4-BE49-F238E27FC236}">
                  <a16:creationId xmlns:a16="http://schemas.microsoft.com/office/drawing/2014/main" id="{D2137322-7C0E-48CC-BB32-9136DD04921F}"/>
                </a:ext>
              </a:extLst>
            </p:cNvPr>
            <p:cNvCxnSpPr>
              <a:cxnSpLocks/>
              <a:stCxn id="228" idx="2"/>
            </p:cNvCxnSpPr>
            <p:nvPr/>
          </p:nvCxnSpPr>
          <p:spPr>
            <a:xfrm>
              <a:off x="20716128" y="15473271"/>
              <a:ext cx="0" cy="263636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3D7E3679-2BAD-45F6-BEE3-8481B7410AD8}"/>
              </a:ext>
            </a:extLst>
          </p:cNvPr>
          <p:cNvGrpSpPr/>
          <p:nvPr/>
        </p:nvGrpSpPr>
        <p:grpSpPr>
          <a:xfrm>
            <a:off x="33539488" y="16468199"/>
            <a:ext cx="20688812" cy="13420836"/>
            <a:chOff x="14994468" y="12298765"/>
            <a:chExt cx="16991609" cy="11775998"/>
          </a:xfrm>
        </p:grpSpPr>
        <p:sp>
          <p:nvSpPr>
            <p:cNvPr id="170" name="PlaceHolder 2">
              <a:extLst>
                <a:ext uri="{FF2B5EF4-FFF2-40B4-BE49-F238E27FC236}">
                  <a16:creationId xmlns:a16="http://schemas.microsoft.com/office/drawing/2014/main" id="{E41E7D79-57EA-4BBA-9288-5B590AD458C1}"/>
                </a:ext>
              </a:extLst>
            </p:cNvPr>
            <p:cNvSpPr txBox="1">
              <a:spLocks/>
            </p:cNvSpPr>
            <p:nvPr/>
          </p:nvSpPr>
          <p:spPr>
            <a:xfrm>
              <a:off x="15002856" y="12298766"/>
              <a:ext cx="4373728" cy="11753183"/>
            </a:xfrm>
            <a:prstGeom prst="rect">
              <a:avLst/>
            </a:prstGeom>
            <a:noFill/>
            <a:ln w="0">
              <a:solidFill>
                <a:schemeClr val="tx2">
                  <a:lumMod val="25000"/>
                </a:schemeClr>
              </a:solidFill>
            </a:ln>
          </p:spPr>
          <p:txBody>
            <a:bodyPr spcFirstLastPara="1" vert="horz" wrap="square" lIns="91440" tIns="45720" rIns="91440" bIns="4572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buClr>
                  <a:schemeClr val="dk1"/>
                </a:buClr>
                <a:buSzPts val="1400"/>
              </a:pPr>
              <a:r>
                <a:rPr lang="ru-RU" sz="7200" b="1" spc="50" dirty="0">
                  <a:solidFill>
                    <a:schemeClr val="tx2">
                      <a:lumMod val="50000"/>
                    </a:schemeClr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Т</a:t>
              </a:r>
            </a:p>
          </p:txBody>
        </p:sp>
        <p:sp>
          <p:nvSpPr>
            <p:cNvPr id="171" name="PlaceHolder 2">
              <a:extLst>
                <a:ext uri="{FF2B5EF4-FFF2-40B4-BE49-F238E27FC236}">
                  <a16:creationId xmlns:a16="http://schemas.microsoft.com/office/drawing/2014/main" id="{127C512E-B12C-418F-AFAD-B4F60E7A38B2}"/>
                </a:ext>
              </a:extLst>
            </p:cNvPr>
            <p:cNvSpPr txBox="1">
              <a:spLocks/>
            </p:cNvSpPr>
            <p:nvPr/>
          </p:nvSpPr>
          <p:spPr>
            <a:xfrm>
              <a:off x="19376584" y="12298766"/>
              <a:ext cx="4190946" cy="11753181"/>
            </a:xfrm>
            <a:prstGeom prst="rect">
              <a:avLst/>
            </a:prstGeom>
            <a:noFill/>
            <a:ln w="0">
              <a:solidFill>
                <a:schemeClr val="tx2">
                  <a:lumMod val="25000"/>
                </a:schemeClr>
              </a:solidFill>
            </a:ln>
          </p:spPr>
          <p:txBody>
            <a:bodyPr spcFirstLastPara="1" vert="horz" wrap="square" lIns="91440" tIns="45720" rIns="91440" bIns="4572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buClr>
                  <a:schemeClr val="dk1"/>
                </a:buClr>
                <a:buSzPts val="1400"/>
              </a:pPr>
              <a:r>
                <a:rPr lang="en-US" sz="7200" b="1" spc="50" dirty="0">
                  <a:solidFill>
                    <a:schemeClr val="tx2">
                      <a:lumMod val="50000"/>
                    </a:schemeClr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D</a:t>
              </a:r>
              <a:endParaRPr lang="ru-RU" sz="7200" b="1" spc="50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72" name="PlaceHolder 2">
              <a:extLst>
                <a:ext uri="{FF2B5EF4-FFF2-40B4-BE49-F238E27FC236}">
                  <a16:creationId xmlns:a16="http://schemas.microsoft.com/office/drawing/2014/main" id="{3957C108-77B6-4E5C-B4C8-99F576BE486E}"/>
                </a:ext>
              </a:extLst>
            </p:cNvPr>
            <p:cNvSpPr txBox="1">
              <a:spLocks/>
            </p:cNvSpPr>
            <p:nvPr/>
          </p:nvSpPr>
          <p:spPr>
            <a:xfrm>
              <a:off x="23567530" y="12298766"/>
              <a:ext cx="4207716" cy="11753180"/>
            </a:xfrm>
            <a:prstGeom prst="rect">
              <a:avLst/>
            </a:prstGeom>
            <a:noFill/>
            <a:ln w="0">
              <a:solidFill>
                <a:schemeClr val="tx2">
                  <a:lumMod val="25000"/>
                </a:schemeClr>
              </a:solidFill>
            </a:ln>
          </p:spPr>
          <p:txBody>
            <a:bodyPr spcFirstLastPara="1" vert="horz" wrap="square" lIns="91440" tIns="45720" rIns="91440" bIns="4572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buClr>
                  <a:schemeClr val="dk1"/>
                </a:buClr>
                <a:buSzPts val="1400"/>
              </a:pPr>
              <a:r>
                <a:rPr lang="ru-RU" sz="7200" b="1" spc="50" dirty="0">
                  <a:solidFill>
                    <a:schemeClr val="tx2">
                      <a:lumMod val="50000"/>
                    </a:schemeClr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Р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73" name="Диаграмма 172">
                  <a:extLst>
                    <a:ext uri="{FF2B5EF4-FFF2-40B4-BE49-F238E27FC236}">
                      <a16:creationId xmlns:a16="http://schemas.microsoft.com/office/drawing/2014/main" id="{87B2FB44-37F7-47DD-94D1-7E7046DABFF8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725881725"/>
                    </p:ext>
                  </p:extLst>
                </p:nvPr>
              </p:nvGraphicFramePr>
              <p:xfrm>
                <a:off x="19359815" y="14045575"/>
                <a:ext cx="4224485" cy="350915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4"/>
                </a:graphicData>
              </a:graphic>
            </p:graphicFrame>
          </mc:Choice>
          <mc:Fallback xmlns="">
            <p:graphicFrame>
              <p:nvGraphicFramePr>
                <p:cNvPr id="173" name="Диаграмма 172">
                  <a:extLst>
                    <a:ext uri="{FF2B5EF4-FFF2-40B4-BE49-F238E27FC236}">
                      <a16:creationId xmlns:a16="http://schemas.microsoft.com/office/drawing/2014/main" id="{87B2FB44-37F7-47DD-94D1-7E7046DABFF8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725881725"/>
                    </p:ext>
                  </p:extLst>
                </p:nvPr>
              </p:nvGraphicFramePr>
              <p:xfrm>
                <a:off x="19359815" y="14045575"/>
                <a:ext cx="4224485" cy="350915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</mc:Fallback>
        </mc:AlternateContent>
        <p:sp>
          <p:nvSpPr>
            <p:cNvPr id="174" name="PlaceHolder 1">
              <a:extLst>
                <a:ext uri="{FF2B5EF4-FFF2-40B4-BE49-F238E27FC236}">
                  <a16:creationId xmlns:a16="http://schemas.microsoft.com/office/drawing/2014/main" id="{D12004AB-FF99-4E30-83CD-254470615121}"/>
                </a:ext>
              </a:extLst>
            </p:cNvPr>
            <p:cNvSpPr txBox="1">
              <a:spLocks/>
            </p:cNvSpPr>
            <p:nvPr/>
          </p:nvSpPr>
          <p:spPr>
            <a:xfrm>
              <a:off x="15002856" y="12298766"/>
              <a:ext cx="4373728" cy="649868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91440" rIns="91440" bIns="9144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ru-RU" sz="3200" b="1" dirty="0">
                  <a:solidFill>
                    <a:schemeClr val="dk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1. Транспортный аспект</a:t>
              </a:r>
              <a:endParaRPr lang="fr-FR" sz="3200" b="1" dirty="0">
                <a:solidFill>
                  <a:schemeClr val="dk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75" name="PlaceHolder 1">
              <a:extLst>
                <a:ext uri="{FF2B5EF4-FFF2-40B4-BE49-F238E27FC236}">
                  <a16:creationId xmlns:a16="http://schemas.microsoft.com/office/drawing/2014/main" id="{BB8ABD07-B8DD-4344-BA56-C1070C2608D6}"/>
                </a:ext>
              </a:extLst>
            </p:cNvPr>
            <p:cNvSpPr txBox="1">
              <a:spLocks/>
            </p:cNvSpPr>
            <p:nvPr/>
          </p:nvSpPr>
          <p:spPr>
            <a:xfrm>
              <a:off x="19376585" y="12314596"/>
              <a:ext cx="4207715" cy="649868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91440" rIns="91440" bIns="9144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ru-RU" sz="3200" b="1" dirty="0">
                  <a:solidFill>
                    <a:schemeClr val="dk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2. Пространственный аспект</a:t>
              </a:r>
              <a:endParaRPr lang="fr-FR" sz="3200" b="1" dirty="0">
                <a:solidFill>
                  <a:schemeClr val="dk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76" name="PlaceHolder 1">
              <a:extLst>
                <a:ext uri="{FF2B5EF4-FFF2-40B4-BE49-F238E27FC236}">
                  <a16:creationId xmlns:a16="http://schemas.microsoft.com/office/drawing/2014/main" id="{352AD028-974E-4470-A358-18B3DA420EFC}"/>
                </a:ext>
              </a:extLst>
            </p:cNvPr>
            <p:cNvSpPr txBox="1">
              <a:spLocks/>
            </p:cNvSpPr>
            <p:nvPr/>
          </p:nvSpPr>
          <p:spPr>
            <a:xfrm>
              <a:off x="23567532" y="12314599"/>
              <a:ext cx="4207715" cy="649868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91440" rIns="91440" bIns="9144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ru-RU" sz="3200" b="1" dirty="0">
                  <a:solidFill>
                    <a:schemeClr val="dk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3. Демографический аспект</a:t>
              </a:r>
              <a:endParaRPr lang="fr-FR" sz="3200" b="1" dirty="0">
                <a:solidFill>
                  <a:schemeClr val="dk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77" name="Диаграмма 176">
                  <a:extLst>
                    <a:ext uri="{FF2B5EF4-FFF2-40B4-BE49-F238E27FC236}">
                      <a16:creationId xmlns:a16="http://schemas.microsoft.com/office/drawing/2014/main" id="{CC9D5D4D-9C18-4A8C-BE38-34B6D0DE1777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553686303"/>
                    </p:ext>
                  </p:extLst>
                </p:nvPr>
              </p:nvGraphicFramePr>
              <p:xfrm>
                <a:off x="23567529" y="14061405"/>
                <a:ext cx="4190946" cy="349332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7"/>
                </a:graphicData>
              </a:graphic>
            </p:graphicFrame>
          </mc:Choice>
          <mc:Fallback xmlns="">
            <p:graphicFrame>
              <p:nvGraphicFramePr>
                <p:cNvPr id="177" name="Диаграмма 176">
                  <a:extLst>
                    <a:ext uri="{FF2B5EF4-FFF2-40B4-BE49-F238E27FC236}">
                      <a16:creationId xmlns:a16="http://schemas.microsoft.com/office/drawing/2014/main" id="{CC9D5D4D-9C18-4A8C-BE38-34B6D0DE1777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553686303"/>
                    </p:ext>
                  </p:extLst>
                </p:nvPr>
              </p:nvGraphicFramePr>
              <p:xfrm>
                <a:off x="23567529" y="14061405"/>
                <a:ext cx="4190946" cy="3493323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8"/>
                </a:graphicData>
              </a:graphic>
            </p:graphicFrame>
          </mc:Fallback>
        </mc:AlternateContent>
        <p:pic>
          <p:nvPicPr>
            <p:cNvPr id="178" name="Рисунок 177">
              <a:extLst>
                <a:ext uri="{FF2B5EF4-FFF2-40B4-BE49-F238E27FC236}">
                  <a16:creationId xmlns:a16="http://schemas.microsoft.com/office/drawing/2014/main" id="{B32917D4-4DEC-4689-8916-BC4D21E4E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699606" y="14061405"/>
              <a:ext cx="2980225" cy="3495902"/>
            </a:xfrm>
            <a:prstGeom prst="rect">
              <a:avLst/>
            </a:prstGeom>
          </p:spPr>
        </p:pic>
        <p:sp>
          <p:nvSpPr>
            <p:cNvPr id="179" name="Google Shape;386;p40">
              <a:extLst>
                <a:ext uri="{FF2B5EF4-FFF2-40B4-BE49-F238E27FC236}">
                  <a16:creationId xmlns:a16="http://schemas.microsoft.com/office/drawing/2014/main" id="{6A28A186-1801-4806-A7CE-15DC241AB41C}"/>
                </a:ext>
              </a:extLst>
            </p:cNvPr>
            <p:cNvSpPr txBox="1">
              <a:spLocks/>
            </p:cNvSpPr>
            <p:nvPr/>
          </p:nvSpPr>
          <p:spPr>
            <a:xfrm>
              <a:off x="15002856" y="22729340"/>
              <a:ext cx="4373727" cy="134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buClr>
                  <a:schemeClr val="dk1"/>
                </a:buClr>
                <a:buSzPts val="1900"/>
                <a:buFont typeface="DM Sans"/>
                <a:buNone/>
                <a:defRPr sz="1100" i="1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1pPr>
              <a:lvl2pPr marL="9144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alphaL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2pPr>
              <a:lvl3pPr marL="13716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romanL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3pPr>
              <a:lvl4pPr marL="18288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arabi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4pPr>
              <a:lvl5pPr marL="22860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alphaL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5pPr>
              <a:lvl6pPr marL="27432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romanL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6pPr>
              <a:lvl7pPr marL="32004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arabi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7pPr>
              <a:lvl8pPr marL="36576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alphaL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8pPr>
              <a:lvl9pPr marL="41148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romanL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9pPr>
            </a:lstStyle>
            <a:p>
              <a:pPr algn="l"/>
              <a:r>
                <a:rPr lang="ru-RU" sz="1800" baseline="30000" dirty="0">
                  <a:solidFill>
                    <a:schemeClr val="tx1">
                      <a:alpha val="75000"/>
                    </a:schemeClr>
                  </a:solidFill>
                  <a:latin typeface="Manrope" pitchFamily="2" charset="0"/>
                </a:rPr>
                <a:t>8</a:t>
              </a:r>
              <a:r>
                <a:rPr lang="ru-RU" sz="1800" b="0" u="none" strike="noStrike" baseline="0" dirty="0">
                  <a:solidFill>
                    <a:schemeClr val="tx1">
                      <a:alpha val="75000"/>
                    </a:schemeClr>
                  </a:solidFill>
                  <a:latin typeface="Manrope" pitchFamily="2" charset="0"/>
                </a:rPr>
                <a:t>Градостроительная концепция развития южной части </a:t>
              </a:r>
              <a:r>
                <a:rPr lang="ru-RU" sz="1800" dirty="0">
                  <a:solidFill>
                    <a:schemeClr val="tx1">
                      <a:alpha val="75000"/>
                    </a:schemeClr>
                  </a:solidFill>
                  <a:latin typeface="Manrope" pitchFamily="2" charset="0"/>
                </a:rPr>
                <a:t>Санкт-Петербургской агломерационной зоны на территориях Гатчинского и Ломоносовского районов Ленинградской области, </a:t>
              </a:r>
              <a:r>
                <a:rPr lang="ru-RU" sz="1800" dirty="0" err="1">
                  <a:solidFill>
                    <a:schemeClr val="tx1">
                      <a:alpha val="75000"/>
                    </a:schemeClr>
                  </a:solidFill>
                  <a:latin typeface="Manrope" pitchFamily="2" charset="0"/>
                </a:rPr>
                <a:t>Урбаника</a:t>
              </a:r>
              <a:r>
                <a:rPr lang="ru-RU" sz="1800" dirty="0">
                  <a:solidFill>
                    <a:schemeClr val="tx1">
                      <a:alpha val="75000"/>
                    </a:schemeClr>
                  </a:solidFill>
                  <a:latin typeface="Manrope" pitchFamily="2" charset="0"/>
                </a:rPr>
                <a:t>, 2022</a:t>
              </a:r>
            </a:p>
          </p:txBody>
        </p:sp>
        <p:sp>
          <p:nvSpPr>
            <p:cNvPr id="180" name="Google Shape;386;p40">
              <a:extLst>
                <a:ext uri="{FF2B5EF4-FFF2-40B4-BE49-F238E27FC236}">
                  <a16:creationId xmlns:a16="http://schemas.microsoft.com/office/drawing/2014/main" id="{298274EB-889F-4815-9281-55D34D8A91E4}"/>
                </a:ext>
              </a:extLst>
            </p:cNvPr>
            <p:cNvSpPr txBox="1">
              <a:spLocks/>
            </p:cNvSpPr>
            <p:nvPr/>
          </p:nvSpPr>
          <p:spPr>
            <a:xfrm>
              <a:off x="19393353" y="22729340"/>
              <a:ext cx="4174178" cy="1230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buClr>
                  <a:schemeClr val="dk1"/>
                </a:buClr>
                <a:buSzPts val="1900"/>
                <a:buFont typeface="DM Sans"/>
                <a:buNone/>
                <a:defRPr sz="1100" i="1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1pPr>
              <a:lvl2pPr marL="9144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alphaL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2pPr>
              <a:lvl3pPr marL="13716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romanL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3pPr>
              <a:lvl4pPr marL="18288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arabi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4pPr>
              <a:lvl5pPr marL="22860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alphaL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5pPr>
              <a:lvl6pPr marL="27432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romanL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6pPr>
              <a:lvl7pPr marL="32004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arabi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7pPr>
              <a:lvl8pPr marL="36576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alphaL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8pPr>
              <a:lvl9pPr marL="41148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romanL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9pPr>
            </a:lstStyle>
            <a:p>
              <a:r>
                <a:rPr lang="ru-RU" sz="1800" baseline="30000" dirty="0">
                  <a:solidFill>
                    <a:schemeClr val="tx1">
                      <a:alpha val="75000"/>
                    </a:schemeClr>
                  </a:solidFill>
                  <a:latin typeface="Manrope" pitchFamily="2" charset="0"/>
                </a:rPr>
                <a:t>9</a:t>
              </a:r>
              <a:r>
                <a:rPr lang="ru-RU" sz="1800" dirty="0">
                  <a:solidFill>
                    <a:srgbClr val="000000">
                      <a:alpha val="75000"/>
                    </a:srgbClr>
                  </a:solidFill>
                  <a:effectLst/>
                  <a:latin typeface="Manrope" pitchFamily="2" charset="0"/>
                </a:rPr>
                <a:t>Градостроительное проектирование. Методологические основы и инструменты</a:t>
              </a:r>
              <a:r>
                <a:rPr lang="ru-RU" sz="1800" dirty="0">
                  <a:solidFill>
                    <a:schemeClr val="tx1">
                      <a:alpha val="75000"/>
                    </a:schemeClr>
                  </a:solidFill>
                  <a:latin typeface="Manrope" pitchFamily="2" charset="0"/>
                </a:rPr>
                <a:t>,</a:t>
              </a:r>
            </a:p>
            <a:p>
              <a:r>
                <a:rPr lang="ru-RU" sz="1800" dirty="0">
                  <a:solidFill>
                    <a:schemeClr val="tx1">
                      <a:alpha val="75000"/>
                    </a:schemeClr>
                  </a:solidFill>
                  <a:latin typeface="Manrope" pitchFamily="2" charset="0"/>
                </a:rPr>
                <a:t>С.Д. Митягин, 2023</a:t>
              </a:r>
            </a:p>
          </p:txBody>
        </p:sp>
        <p:sp>
          <p:nvSpPr>
            <p:cNvPr id="181" name="Google Shape;386;p40">
              <a:extLst>
                <a:ext uri="{FF2B5EF4-FFF2-40B4-BE49-F238E27FC236}">
                  <a16:creationId xmlns:a16="http://schemas.microsoft.com/office/drawing/2014/main" id="{ECCCCBDA-7EE7-4965-9F6B-E2C28A18F655}"/>
                </a:ext>
              </a:extLst>
            </p:cNvPr>
            <p:cNvSpPr txBox="1">
              <a:spLocks/>
            </p:cNvSpPr>
            <p:nvPr/>
          </p:nvSpPr>
          <p:spPr>
            <a:xfrm>
              <a:off x="23601071" y="22729340"/>
              <a:ext cx="4174178" cy="9809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buClr>
                  <a:schemeClr val="dk1"/>
                </a:buClr>
                <a:buSzPts val="1900"/>
                <a:buFont typeface="DM Sans"/>
                <a:buNone/>
                <a:defRPr sz="1100" i="1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1pPr>
              <a:lvl2pPr marL="9144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alphaL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2pPr>
              <a:lvl3pPr marL="13716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romanL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3pPr>
              <a:lvl4pPr marL="18288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arabi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4pPr>
              <a:lvl5pPr marL="22860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alphaL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5pPr>
              <a:lvl6pPr marL="27432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romanL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6pPr>
              <a:lvl7pPr marL="32004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arabi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7pPr>
              <a:lvl8pPr marL="36576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alphaL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8pPr>
              <a:lvl9pPr marL="4114800" indent="-317500">
                <a:lnSpc>
                  <a:spcPct val="115000"/>
                </a:lnSpc>
                <a:buClr>
                  <a:schemeClr val="dk1"/>
                </a:buClr>
                <a:buSzPts val="1400"/>
                <a:buFont typeface="DM Sans"/>
                <a:buAutoNum type="romanLcPeriod"/>
                <a:defRPr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9pPr>
            </a:lstStyle>
            <a:p>
              <a:r>
                <a:rPr lang="ru-RU" sz="1800" baseline="30000" dirty="0">
                  <a:solidFill>
                    <a:schemeClr val="tx1">
                      <a:alpha val="75000"/>
                    </a:schemeClr>
                  </a:solidFill>
                  <a:latin typeface="Manrope" pitchFamily="2" charset="0"/>
                </a:rPr>
                <a:t>10</a:t>
              </a:r>
              <a:r>
                <a:rPr lang="ru-RU" sz="1800" dirty="0">
                  <a:solidFill>
                    <a:schemeClr val="tx1">
                      <a:alpha val="75000"/>
                    </a:schemeClr>
                  </a:solidFill>
                  <a:latin typeface="Manrope" pitchFamily="2" charset="0"/>
                </a:rPr>
                <a:t>Федеральная служба государственной статистики, 2025</a:t>
              </a:r>
            </a:p>
          </p:txBody>
        </p:sp>
        <p:sp>
          <p:nvSpPr>
            <p:cNvPr id="182" name="PlaceHolder 1">
              <a:extLst>
                <a:ext uri="{FF2B5EF4-FFF2-40B4-BE49-F238E27FC236}">
                  <a16:creationId xmlns:a16="http://schemas.microsoft.com/office/drawing/2014/main" id="{23F0B8A9-8217-4612-BDB0-D0736AE2F4B0}"/>
                </a:ext>
              </a:extLst>
            </p:cNvPr>
            <p:cNvSpPr txBox="1">
              <a:spLocks/>
            </p:cNvSpPr>
            <p:nvPr/>
          </p:nvSpPr>
          <p:spPr>
            <a:xfrm>
              <a:off x="15019626" y="13281054"/>
              <a:ext cx="4356958" cy="915474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91440" rIns="91440" bIns="9144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ru-RU" sz="2000" dirty="0">
                  <a:solidFill>
                    <a:schemeClr val="dk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Определяет связность с ядром агломерации</a:t>
              </a:r>
              <a:endParaRPr lang="fr-FR" sz="2000" dirty="0">
                <a:solidFill>
                  <a:schemeClr val="dk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83" name="PlaceHolder 1">
              <a:extLst>
                <a:ext uri="{FF2B5EF4-FFF2-40B4-BE49-F238E27FC236}">
                  <a16:creationId xmlns:a16="http://schemas.microsoft.com/office/drawing/2014/main" id="{E4E27A2C-EA7B-4F9B-96A2-F73560B0984E}"/>
                </a:ext>
              </a:extLst>
            </p:cNvPr>
            <p:cNvSpPr txBox="1">
              <a:spLocks/>
            </p:cNvSpPr>
            <p:nvPr/>
          </p:nvSpPr>
          <p:spPr>
            <a:xfrm>
              <a:off x="19376585" y="13281054"/>
              <a:ext cx="4190944" cy="915474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91440" rIns="91440" bIns="9144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ru-RU" sz="2000" dirty="0">
                  <a:solidFill>
                    <a:schemeClr val="dk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Определяет темп освоения и функциональное использование территории </a:t>
              </a:r>
              <a:endParaRPr lang="fr-FR" sz="2000" dirty="0">
                <a:solidFill>
                  <a:schemeClr val="dk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84" name="PlaceHolder 1">
              <a:extLst>
                <a:ext uri="{FF2B5EF4-FFF2-40B4-BE49-F238E27FC236}">
                  <a16:creationId xmlns:a16="http://schemas.microsoft.com/office/drawing/2014/main" id="{0D1BAC03-89BB-4B18-8A8A-1FE01B41A017}"/>
                </a:ext>
              </a:extLst>
            </p:cNvPr>
            <p:cNvSpPr txBox="1">
              <a:spLocks/>
            </p:cNvSpPr>
            <p:nvPr/>
          </p:nvSpPr>
          <p:spPr>
            <a:xfrm>
              <a:off x="23567529" y="13281054"/>
              <a:ext cx="4207718" cy="915474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91440" rIns="91440" bIns="9144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ru-RU" sz="2000" dirty="0">
                  <a:solidFill>
                    <a:schemeClr val="dk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Определяет каркас расселения и зоны роста</a:t>
              </a:r>
              <a:endParaRPr lang="fr-FR" sz="2000" dirty="0">
                <a:solidFill>
                  <a:schemeClr val="dk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85" name="PlaceHolder 1">
              <a:extLst>
                <a:ext uri="{FF2B5EF4-FFF2-40B4-BE49-F238E27FC236}">
                  <a16:creationId xmlns:a16="http://schemas.microsoft.com/office/drawing/2014/main" id="{3A09C2A2-C487-4C0B-852A-FCE05D3D5886}"/>
                </a:ext>
              </a:extLst>
            </p:cNvPr>
            <p:cNvSpPr txBox="1">
              <a:spLocks/>
            </p:cNvSpPr>
            <p:nvPr/>
          </p:nvSpPr>
          <p:spPr>
            <a:xfrm>
              <a:off x="15019626" y="17554728"/>
              <a:ext cx="4373725" cy="915474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91440" rIns="91440" bIns="9144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ru-RU" sz="2000" dirty="0">
                  <a:solidFill>
                    <a:schemeClr val="dk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Оценка доступности по времени и по типам общественного транспорта</a:t>
              </a:r>
              <a:endParaRPr lang="fr-FR" sz="2000" dirty="0">
                <a:solidFill>
                  <a:schemeClr val="dk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86" name="PlaceHolder 1">
              <a:extLst>
                <a:ext uri="{FF2B5EF4-FFF2-40B4-BE49-F238E27FC236}">
                  <a16:creationId xmlns:a16="http://schemas.microsoft.com/office/drawing/2014/main" id="{436888E8-3F42-4DFD-9B1B-2B779C208D45}"/>
                </a:ext>
              </a:extLst>
            </p:cNvPr>
            <p:cNvSpPr txBox="1">
              <a:spLocks/>
            </p:cNvSpPr>
            <p:nvPr/>
          </p:nvSpPr>
          <p:spPr>
            <a:xfrm>
              <a:off x="19393351" y="17554728"/>
              <a:ext cx="4174176" cy="915474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91440" rIns="91440" bIns="9144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ru-RU" sz="2000" dirty="0">
                  <a:solidFill>
                    <a:schemeClr val="dk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Оценка качественного и количественного перехода категорий землепользования  </a:t>
              </a:r>
              <a:endParaRPr lang="fr-FR" sz="2000" dirty="0">
                <a:solidFill>
                  <a:schemeClr val="dk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87" name="PlaceHolder 1">
              <a:extLst>
                <a:ext uri="{FF2B5EF4-FFF2-40B4-BE49-F238E27FC236}">
                  <a16:creationId xmlns:a16="http://schemas.microsoft.com/office/drawing/2014/main" id="{CC8229E1-BF43-4668-92C0-56F35F268D9E}"/>
                </a:ext>
              </a:extLst>
            </p:cNvPr>
            <p:cNvSpPr txBox="1">
              <a:spLocks/>
            </p:cNvSpPr>
            <p:nvPr/>
          </p:nvSpPr>
          <p:spPr>
            <a:xfrm>
              <a:off x="23584294" y="17567391"/>
              <a:ext cx="4190952" cy="915474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91440" rIns="91440" bIns="9144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ru-RU" sz="2000" dirty="0">
                  <a:solidFill>
                    <a:schemeClr val="dk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Оценка территорий по приросту населения в контексте агломерации</a:t>
              </a:r>
              <a:endParaRPr lang="fr-FR" sz="2000" dirty="0">
                <a:solidFill>
                  <a:schemeClr val="dk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88" name="Google Shape;372;p40">
              <a:extLst>
                <a:ext uri="{FF2B5EF4-FFF2-40B4-BE49-F238E27FC236}">
                  <a16:creationId xmlns:a16="http://schemas.microsoft.com/office/drawing/2014/main" id="{D7C0FA54-4B23-434F-9DA7-DE3E305F74F9}"/>
                </a:ext>
              </a:extLst>
            </p:cNvPr>
            <p:cNvCxnSpPr>
              <a:cxnSpLocks/>
            </p:cNvCxnSpPr>
            <p:nvPr/>
          </p:nvCxnSpPr>
          <p:spPr>
            <a:xfrm>
              <a:off x="14994468" y="22799396"/>
              <a:ext cx="1280592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85D748F2-9764-4C7C-9CAB-65DC7BF02986}"/>
                    </a:ext>
                  </a:extLst>
                </p:cNvPr>
                <p:cNvSpPr txBox="1"/>
                <p:nvPr/>
              </p:nvSpPr>
              <p:spPr>
                <a:xfrm>
                  <a:off x="15076300" y="18635075"/>
                  <a:ext cx="4283513" cy="90924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3200" b="0" i="1" smtClean="0">
                            <a:latin typeface="Cambria Math" panose="02040503050406030204" pitchFamily="18" charset="0"/>
                          </a:rPr>
                          <m:t>Т=</m:t>
                        </m:r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ru-RU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ru-RU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ru-RU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32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ru-RU" sz="3200" b="0" i="1" smtClean="0">
                                        <a:latin typeface="Cambria Math" panose="02040503050406030204" pitchFamily="18" charset="0"/>
                                      </a:rPr>
                                      <m:t>от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ru-RU" sz="3200" b="0" i="1" smtClean="0">
                                    <a:latin typeface="Cambria Math" panose="02040503050406030204" pitchFamily="18" charset="0"/>
                                  </a:rPr>
                                  <m:t>п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ru-RU" sz="3600" dirty="0">
                    <a:latin typeface="Manrope" pitchFamily="2" charset="0"/>
                  </a:endParaRPr>
                </a:p>
              </p:txBody>
            </p:sp>
          </mc:Choice>
          <mc:Fallback xmlns=""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85D748F2-9764-4C7C-9CAB-65DC7BF029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76300" y="18635075"/>
                  <a:ext cx="4283513" cy="909245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C9A62FB6-739F-44B4-A960-30825C6ED264}"/>
                    </a:ext>
                  </a:extLst>
                </p:cNvPr>
                <p:cNvSpPr txBox="1"/>
                <p:nvPr/>
              </p:nvSpPr>
              <p:spPr>
                <a:xfrm>
                  <a:off x="19652285" y="18628645"/>
                  <a:ext cx="3605923" cy="9806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ru-RU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ru-RU" sz="3200" dirty="0">
                                <a:latin typeface="Bahnschrift" panose="020B0502040204020203" pitchFamily="34" charset="0"/>
                              </a:rPr>
                              <m:t>∑</m:t>
                            </m:r>
                            <m:r>
                              <m:rPr>
                                <m:nor/>
                              </m:rPr>
                              <a:rPr lang="en-US" sz="3200" dirty="0">
                                <a:latin typeface="Bahnschrift" panose="020B0502040204020203" pitchFamily="34" charset="0"/>
                              </a:rPr>
                              <m:t> |</m:t>
                            </m:r>
                            <m:r>
                              <m:rPr>
                                <m:nor/>
                              </m:rPr>
                              <a:rPr lang="ru-RU" sz="3200" dirty="0">
                                <a:latin typeface="Bahnschrift" panose="020B0502040204020203" pitchFamily="34" charset="0"/>
                              </a:rPr>
                              <m:t>∆</m:t>
                            </m:r>
                            <m:r>
                              <m:rPr>
                                <m:nor/>
                              </m:rPr>
                              <a:rPr lang="en-US" sz="3200" dirty="0">
                                <a:latin typeface="Bahnschrift" panose="020B0502040204020203" pitchFamily="34" charset="0"/>
                              </a:rPr>
                              <m:t>|</m:t>
                            </m:r>
                            <m:r>
                              <m:rPr>
                                <m:nor/>
                              </m:rPr>
                              <a:rPr lang="ru-RU" sz="3200" dirty="0">
                                <a:latin typeface="Bahnschrift" panose="020B0502040204020203" pitchFamily="34" charset="0"/>
                              </a:rPr>
                              <m:t> 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u-RU" sz="3200" i="1">
                                    <a:latin typeface="Cambria Math" panose="02040503050406030204" pitchFamily="18" charset="0"/>
                                  </a:rPr>
                                  <m:t>р</m:t>
                                </m:r>
                              </m:sub>
                            </m:sSub>
                            <m:r>
                              <a:rPr lang="ru-RU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u-RU" sz="3200" i="1">
                                    <a:latin typeface="Cambria Math" panose="02040503050406030204" pitchFamily="18" charset="0"/>
                                  </a:rPr>
                                  <m:t>н</m:t>
                                </m:r>
                              </m:sub>
                            </m:sSub>
                          </m:den>
                        </m:f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ru-RU" sz="3200" b="0" i="1" smtClean="0">
                                    <a:latin typeface="Cambria Math" panose="02040503050406030204" pitchFamily="18" charset="0"/>
                                  </a:rPr>
                                  <m:t>п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ru-RU" sz="3200" b="0" i="1" smtClean="0">
                                    <a:latin typeface="Cambria Math" panose="02040503050406030204" pitchFamily="18" charset="0"/>
                                  </a:rPr>
                                  <m:t>я</m:t>
                                </m:r>
                              </m:sub>
                            </m:sSub>
                          </m:den>
                        </m:f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ru-RU" sz="3200" dirty="0">
                    <a:latin typeface="Bahnschrif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C9A62FB6-739F-44B4-A960-30825C6ED2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52285" y="18628645"/>
                  <a:ext cx="3605923" cy="980697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PlaceHolder 1">
                  <a:extLst>
                    <a:ext uri="{FF2B5EF4-FFF2-40B4-BE49-F238E27FC236}">
                      <a16:creationId xmlns:a16="http://schemas.microsoft.com/office/drawing/2014/main" id="{36CCC367-5AD9-4B0B-AA6B-E8BCB0FEE30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4994468" y="19809471"/>
                  <a:ext cx="4398883" cy="2642733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91440" tIns="91440" rIns="91440" bIns="91440" anchor="t" anchorCtr="0">
                  <a:no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00000"/>
                    </a:lnSpc>
                    <a:spcBef>
                      <a:spcPts val="600"/>
                    </a:spcBef>
                    <a:tabLst>
                      <a:tab pos="0" algn="l"/>
                    </a:tabLst>
                  </a:pPr>
                  <a:r>
                    <a:rPr lang="ru-RU" sz="2000" dirty="0"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2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</a:rPr>
                          </m:ctrlPr>
                        </m:sSubPr>
                        <m:e>
                          <m:r>
                            <a:rPr lang="en-US" sz="2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ru-RU" sz="2000" kern="1200" dirty="0">
                      <a:solidFill>
                        <a:srgbClr val="000000"/>
                      </a:solidFill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 – коэффициент влияни</a:t>
                  </a:r>
                  <a:r>
                    <a:rPr lang="ru-RU" sz="2000" dirty="0">
                      <a:solidFill>
                        <a:srgbClr val="000000"/>
                      </a:solidFill>
                      <a:latin typeface="Manrope" pitchFamily="2" charset="0"/>
                      <a:ea typeface="Times New Roman" panose="02020603050405020304" pitchFamily="18" charset="0"/>
                    </a:rPr>
                    <a:t>я</a:t>
                  </a:r>
                  <a:r>
                    <a:rPr lang="ru-RU" sz="2000" kern="1200" dirty="0">
                      <a:solidFill>
                        <a:srgbClr val="000000"/>
                      </a:solidFill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 транспортного аспекта для конкретной агломерации, </a:t>
                  </a:r>
                  <a:endParaRPr lang="ru-RU" sz="2000" i="1" kern="1200" dirty="0">
                    <a:solidFill>
                      <a:srgbClr val="000000"/>
                    </a:solidFill>
                    <a:effectLst/>
                    <a:latin typeface="Manrope" pitchFamily="2" charset="0"/>
                    <a:ea typeface="Yu Mincho" panose="02020400000000000000" pitchFamily="18" charset="-128"/>
                  </a:endParaRPr>
                </a:p>
                <a:p>
                  <a:pPr>
                    <a:lnSpc>
                      <a:spcPct val="100000"/>
                    </a:lnSpc>
                    <a:spcBef>
                      <a:spcPts val="600"/>
                    </a:spcBef>
                    <a:tabLst>
                      <a:tab pos="0" algn="l"/>
                    </a:tabLs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2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</a:rPr>
                          </m:ctrlPr>
                        </m:sSubPr>
                        <m:e>
                          <m:r>
                            <a:rPr lang="en-US" sz="2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ru-RU" sz="2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от</m:t>
                          </m:r>
                        </m:sub>
                      </m:sSub>
                    </m:oMath>
                  </a14:m>
                  <a:r>
                    <a:rPr lang="ru-RU" sz="2000" kern="1200" dirty="0">
                      <a:solidFill>
                        <a:srgbClr val="000000"/>
                      </a:solidFill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 – количество типов общественного транспорта,</a:t>
                  </a:r>
                </a:p>
                <a:p>
                  <a:pPr>
                    <a:lnSpc>
                      <a:spcPct val="100000"/>
                    </a:lnSpc>
                    <a:spcBef>
                      <a:spcPts val="600"/>
                    </a:spcBef>
                    <a:tabLst>
                      <a:tab pos="0" algn="l"/>
                    </a:tabLs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2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</a:rPr>
                          </m:ctrlPr>
                        </m:sSubPr>
                        <m:e>
                          <m:r>
                            <a:rPr lang="en-US" sz="2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ru-RU" sz="2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п</m:t>
                          </m:r>
                        </m:sub>
                      </m:sSub>
                    </m:oMath>
                  </a14:m>
                  <a:r>
                    <a:rPr lang="en-US" sz="2000" kern="1200" dirty="0">
                      <a:solidFill>
                        <a:srgbClr val="000000"/>
                      </a:solidFill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 </a:t>
                  </a:r>
                  <a:r>
                    <a:rPr lang="ru-RU" sz="2000" kern="1200" dirty="0">
                      <a:solidFill>
                        <a:srgbClr val="000000"/>
                      </a:solidFill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– номер транспортного </a:t>
                  </a:r>
                  <a:r>
                    <a:rPr lang="ru-RU" sz="2000" dirty="0">
                      <a:solidFill>
                        <a:srgbClr val="000000"/>
                      </a:solidFill>
                      <a:latin typeface="Manrope" pitchFamily="2" charset="0"/>
                      <a:ea typeface="Times New Roman" panose="02020603050405020304" pitchFamily="18" charset="0"/>
                    </a:rPr>
                    <a:t>пояса по удалённости</a:t>
                  </a:r>
                  <a:r>
                    <a:rPr lang="ru-RU" sz="2000" kern="1200" dirty="0">
                      <a:solidFill>
                        <a:srgbClr val="000000"/>
                      </a:solidFill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.</a:t>
                  </a:r>
                  <a:endParaRPr lang="ru-RU" sz="2000" dirty="0">
                    <a:effectLst/>
                    <a:latin typeface="Manrope" pitchFamily="2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4" name="PlaceHolder 1">
                  <a:extLst>
                    <a:ext uri="{FF2B5EF4-FFF2-40B4-BE49-F238E27FC236}">
                      <a16:creationId xmlns:a16="http://schemas.microsoft.com/office/drawing/2014/main" id="{36CCC367-5AD9-4B0B-AA6B-E8BCB0FEE3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94468" y="19809471"/>
                  <a:ext cx="4398883" cy="2642733"/>
                </a:xfrm>
                <a:prstGeom prst="rect">
                  <a:avLst/>
                </a:prstGeom>
                <a:blipFill>
                  <a:blip r:embed="rId41"/>
                  <a:stretch>
                    <a:fillRect l="-1253" r="-1595"/>
                  </a:stretch>
                </a:blipFill>
                <a:ln w="0"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PlaceHolder 1">
                  <a:extLst>
                    <a:ext uri="{FF2B5EF4-FFF2-40B4-BE49-F238E27FC236}">
                      <a16:creationId xmlns:a16="http://schemas.microsoft.com/office/drawing/2014/main" id="{91DD4EA2-8BC9-432B-A7FB-A7EF776996A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9410120" y="19759401"/>
                  <a:ext cx="4140643" cy="3717051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91440" tIns="91440" rIns="91440" bIns="91440" anchor="t" anchorCtr="0">
                  <a:no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00000"/>
                    </a:lnSpc>
                    <a:spcBef>
                      <a:spcPts val="600"/>
                    </a:spcBef>
                    <a:tabLst>
                      <a:tab pos="0" algn="l"/>
                    </a:tabLst>
                  </a:pPr>
                  <a:r>
                    <a:rPr lang="ru-RU" sz="2000" dirty="0"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2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</a:rPr>
                          </m:ctrlPr>
                        </m:sSubPr>
                        <m:e>
                          <m:r>
                            <a:rPr lang="en-US" sz="2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a14:m>
                  <a:r>
                    <a:rPr lang="ru-RU" sz="2000" kern="1200" dirty="0">
                      <a:solidFill>
                        <a:srgbClr val="000000"/>
                      </a:solidFill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 – коэффициент влияни</a:t>
                  </a:r>
                  <a:r>
                    <a:rPr lang="ru-RU" sz="2000" dirty="0">
                      <a:solidFill>
                        <a:srgbClr val="000000"/>
                      </a:solidFill>
                      <a:latin typeface="Manrope" pitchFamily="2" charset="0"/>
                      <a:ea typeface="Times New Roman" panose="02020603050405020304" pitchFamily="18" charset="0"/>
                    </a:rPr>
                    <a:t>я</a:t>
                  </a:r>
                  <a:r>
                    <a:rPr lang="ru-RU" sz="2000" kern="1200" dirty="0">
                      <a:solidFill>
                        <a:srgbClr val="000000"/>
                      </a:solidFill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 пространственного аспекта, зависящий </a:t>
                  </a:r>
                  <a:br>
                    <a:rPr lang="en-US" sz="2000" kern="1200" dirty="0">
                      <a:solidFill>
                        <a:srgbClr val="000000"/>
                      </a:solidFill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</a:br>
                  <a:r>
                    <a:rPr lang="ru-RU" sz="2000" kern="1200" dirty="0">
                      <a:solidFill>
                        <a:srgbClr val="000000"/>
                      </a:solidFill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от функционального состава территории, </a:t>
                  </a:r>
                  <a:endParaRPr lang="ru-RU" sz="2000" i="1" kern="1200" dirty="0">
                    <a:solidFill>
                      <a:srgbClr val="000000"/>
                    </a:solidFill>
                    <a:effectLst/>
                    <a:latin typeface="Manrope" pitchFamily="2" charset="0"/>
                    <a:ea typeface="Yu Mincho" panose="02020400000000000000" pitchFamily="18" charset="-128"/>
                  </a:endParaRPr>
                </a:p>
                <a:p>
                  <a:pPr>
                    <a:lnSpc>
                      <a:spcPct val="100000"/>
                    </a:lnSpc>
                    <a:spcBef>
                      <a:spcPts val="600"/>
                    </a:spcBef>
                    <a:tabLst>
                      <a:tab pos="0" algn="l"/>
                    </a:tabLst>
                  </a:pP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ru-RU" sz="2000" dirty="0">
                          <a:latin typeface="Bahnschrift" panose="020B0502040204020203" pitchFamily="34" charset="0"/>
                        </a:rPr>
                        <m:t>∑</m:t>
                      </m:r>
                      <m:r>
                        <m:rPr>
                          <m:nor/>
                        </m:rPr>
                        <a:rPr lang="en-US" sz="2000" dirty="0">
                          <a:latin typeface="Bahnschrift" panose="020B0502040204020203" pitchFamily="34" charset="0"/>
                        </a:rPr>
                        <m:t> |</m:t>
                      </m:r>
                      <m:r>
                        <m:rPr>
                          <m:nor/>
                        </m:rPr>
                        <a:rPr lang="ru-RU" sz="2000" dirty="0">
                          <a:latin typeface="Bahnschrift" panose="020B0502040204020203" pitchFamily="34" charset="0"/>
                        </a:rPr>
                        <m:t>∆</m:t>
                      </m:r>
                      <m:r>
                        <m:rPr>
                          <m:nor/>
                        </m:rPr>
                        <a:rPr lang="en-US" sz="2000" dirty="0">
                          <a:latin typeface="Bahnschrift" panose="020B0502040204020203" pitchFamily="34" charset="0"/>
                        </a:rPr>
                        <m:t>|</m:t>
                      </m:r>
                    </m:oMath>
                  </a14:m>
                  <a:r>
                    <a:rPr lang="ru-RU" sz="2000" kern="1200" dirty="0">
                      <a:solidFill>
                        <a:srgbClr val="000000"/>
                      </a:solidFill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 – суммарное процентное изменение долей функциональных зон,</a:t>
                  </a:r>
                </a:p>
                <a:p>
                  <a:pPr>
                    <a:lnSpc>
                      <a:spcPct val="100000"/>
                    </a:lnSpc>
                    <a:spcBef>
                      <a:spcPts val="600"/>
                    </a:spcBef>
                    <a:tabLst>
                      <a:tab pos="0" algn="l"/>
                    </a:tabLs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р</m:t>
                          </m:r>
                        </m:sub>
                      </m:sSub>
                    </m:oMath>
                  </a14:m>
                  <a:r>
                    <a:rPr lang="ru-RU" sz="2000" dirty="0">
                      <a:solidFill>
                        <a:srgbClr val="000000"/>
                      </a:solidFill>
                      <a:latin typeface="Manrope" pitchFamily="2" charset="0"/>
                      <a:ea typeface="Times New Roman" panose="02020603050405020304" pitchFamily="18" charset="0"/>
                    </a:rPr>
                    <a:t> - расчётный год</a:t>
                  </a:r>
                </a:p>
                <a:p>
                  <a:pPr>
                    <a:lnSpc>
                      <a:spcPct val="100000"/>
                    </a:lnSpc>
                    <a:spcBef>
                      <a:spcPts val="600"/>
                    </a:spcBef>
                    <a:tabLst>
                      <a:tab pos="0" algn="l"/>
                    </a:tabLs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н</m:t>
                          </m:r>
                        </m:sub>
                      </m:sSub>
                    </m:oMath>
                  </a14:m>
                  <a:r>
                    <a:rPr lang="ru-RU" sz="2000" kern="1200" dirty="0">
                      <a:solidFill>
                        <a:srgbClr val="000000"/>
                      </a:solidFill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 - текущий год</a:t>
                  </a:r>
                </a:p>
                <a:p>
                  <a:pPr>
                    <a:lnSpc>
                      <a:spcPct val="100000"/>
                    </a:lnSpc>
                    <a:spcBef>
                      <a:spcPts val="600"/>
                    </a:spcBef>
                    <a:tabLst>
                      <a:tab pos="0" algn="l"/>
                    </a:tabLs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2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ru-RU" sz="2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п</m:t>
                          </m:r>
                        </m:sub>
                      </m:sSub>
                    </m:oMath>
                  </a14:m>
                  <a:r>
                    <a:rPr lang="en-US" sz="2000" kern="1200" dirty="0">
                      <a:solidFill>
                        <a:srgbClr val="000000"/>
                      </a:solidFill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 </a:t>
                  </a:r>
                  <a:r>
                    <a:rPr lang="ru-RU" sz="2000" kern="1200" dirty="0">
                      <a:solidFill>
                        <a:srgbClr val="000000"/>
                      </a:solidFill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– площадь субъекта агломерации,</a:t>
                  </a:r>
                </a:p>
                <a:p>
                  <a:pPr>
                    <a:lnSpc>
                      <a:spcPct val="100000"/>
                    </a:lnSpc>
                    <a:spcBef>
                      <a:spcPts val="600"/>
                    </a:spcBef>
                    <a:tabLst>
                      <a:tab pos="0" algn="l"/>
                    </a:tabLs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200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ru-RU" sz="2000" b="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я</m:t>
                          </m:r>
                        </m:sub>
                      </m:sSub>
                    </m:oMath>
                  </a14:m>
                  <a:r>
                    <a:rPr lang="ru-RU" sz="2000" dirty="0"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 - площадь ядра</a:t>
                  </a:r>
                </a:p>
                <a:p>
                  <a:pPr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fr-FR" sz="2000" dirty="0">
                    <a:solidFill>
                      <a:schemeClr val="dk1"/>
                    </a:solidFill>
                    <a:latin typeface="Manrope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95" name="PlaceHolder 1">
                  <a:extLst>
                    <a:ext uri="{FF2B5EF4-FFF2-40B4-BE49-F238E27FC236}">
                      <a16:creationId xmlns:a16="http://schemas.microsoft.com/office/drawing/2014/main" id="{91DD4EA2-8BC9-432B-A7FB-A7EF776996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410120" y="19759401"/>
                  <a:ext cx="4140643" cy="3717051"/>
                </a:xfrm>
                <a:prstGeom prst="rect">
                  <a:avLst/>
                </a:prstGeom>
                <a:blipFill>
                  <a:blip r:embed="rId37"/>
                  <a:stretch>
                    <a:fillRect l="-1330" r="-242"/>
                  </a:stretch>
                </a:blipFill>
                <a:ln w="0"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PlaceHolder 1">
                  <a:extLst>
                    <a:ext uri="{FF2B5EF4-FFF2-40B4-BE49-F238E27FC236}">
                      <a16:creationId xmlns:a16="http://schemas.microsoft.com/office/drawing/2014/main" id="{463C5D2A-16FA-493F-8D5F-89ACDC7E638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3550760" y="19821457"/>
                  <a:ext cx="4207715" cy="3763389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lIns="91440" tIns="91440" rIns="91440" bIns="91440" anchor="t" anchorCtr="0">
                  <a:no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00000"/>
                    </a:lnSpc>
                    <a:spcBef>
                      <a:spcPts val="600"/>
                    </a:spcBef>
                    <a:tabLst>
                      <a:tab pos="0" algn="l"/>
                    </a:tabLst>
                  </a:pPr>
                  <a:r>
                    <a:rPr lang="ru-RU" sz="2000" dirty="0"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2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</a:rPr>
                          </m:ctrlPr>
                        </m:sSubPr>
                        <m:e>
                          <m:r>
                            <a:rPr lang="en-US" sz="2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</m:oMath>
                  </a14:m>
                  <a:r>
                    <a:rPr lang="ru-RU" sz="2000" kern="1200" dirty="0">
                      <a:solidFill>
                        <a:srgbClr val="000000"/>
                      </a:solidFill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 – коэффициент влияни</a:t>
                  </a:r>
                  <a:r>
                    <a:rPr lang="ru-RU" sz="2000" dirty="0">
                      <a:solidFill>
                        <a:srgbClr val="000000"/>
                      </a:solidFill>
                      <a:latin typeface="Manrope" pitchFamily="2" charset="0"/>
                      <a:ea typeface="Times New Roman" panose="02020603050405020304" pitchFamily="18" charset="0"/>
                    </a:rPr>
                    <a:t>я</a:t>
                  </a:r>
                  <a:r>
                    <a:rPr lang="ru-RU" sz="2000" kern="1200" dirty="0">
                      <a:solidFill>
                        <a:srgbClr val="000000"/>
                      </a:solidFill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 </a:t>
                  </a:r>
                  <a:r>
                    <a:rPr lang="ru-RU" sz="2000" dirty="0">
                      <a:solidFill>
                        <a:srgbClr val="000000"/>
                      </a:solidFill>
                      <a:latin typeface="Manrope" pitchFamily="2" charset="0"/>
                      <a:ea typeface="Times New Roman" panose="02020603050405020304" pitchFamily="18" charset="0"/>
                    </a:rPr>
                    <a:t>демографическ</a:t>
                  </a:r>
                  <a:r>
                    <a:rPr lang="ru-RU" sz="2000" kern="1200" dirty="0">
                      <a:solidFill>
                        <a:srgbClr val="000000"/>
                      </a:solidFill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ого аспекта</a:t>
                  </a:r>
                  <a:r>
                    <a:rPr lang="ru-RU" sz="2000" dirty="0">
                      <a:solidFill>
                        <a:srgbClr val="000000"/>
                      </a:solidFill>
                      <a:latin typeface="Manrope" pitchFamily="2" charset="0"/>
                      <a:ea typeface="Times New Roman" panose="02020603050405020304" pitchFamily="18" charset="0"/>
                    </a:rPr>
                    <a:t>, зависящий от перспективной численности населения</a:t>
                  </a:r>
                  <a:r>
                    <a:rPr lang="ru-RU" sz="2000" kern="1200" dirty="0">
                      <a:solidFill>
                        <a:srgbClr val="000000"/>
                      </a:solidFill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, </a:t>
                  </a:r>
                  <a:endParaRPr lang="ru-RU" sz="2000" i="1" kern="1200" dirty="0">
                    <a:solidFill>
                      <a:srgbClr val="000000"/>
                    </a:solidFill>
                    <a:effectLst/>
                    <a:latin typeface="Manrope" pitchFamily="2" charset="0"/>
                    <a:ea typeface="Yu Mincho" panose="02020400000000000000" pitchFamily="18" charset="-128"/>
                  </a:endParaRPr>
                </a:p>
                <a:p>
                  <a:pPr>
                    <a:lnSpc>
                      <a:spcPct val="100000"/>
                    </a:lnSpc>
                    <a:spcBef>
                      <a:spcPts val="600"/>
                    </a:spcBef>
                    <a:tabLst>
                      <a:tab pos="0" algn="l"/>
                    </a:tabLs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2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sz="2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п</m:t>
                          </m:r>
                        </m:sub>
                      </m:sSub>
                    </m:oMath>
                  </a14:m>
                  <a:r>
                    <a:rPr lang="en-US" sz="2000" kern="1200" dirty="0">
                      <a:solidFill>
                        <a:srgbClr val="000000"/>
                      </a:solidFill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 </a:t>
                  </a:r>
                  <a:r>
                    <a:rPr lang="ru-RU" sz="2000" kern="1200" dirty="0">
                      <a:solidFill>
                        <a:srgbClr val="000000"/>
                      </a:solidFill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– </a:t>
                  </a:r>
                  <a:r>
                    <a:rPr lang="ru-RU" sz="2000" dirty="0">
                      <a:solidFill>
                        <a:srgbClr val="000000"/>
                      </a:solidFill>
                      <a:latin typeface="Manrope" pitchFamily="2" charset="0"/>
                      <a:ea typeface="Times New Roman" panose="02020603050405020304" pitchFamily="18" charset="0"/>
                    </a:rPr>
                    <a:t>перспективная численность населения </a:t>
                  </a:r>
                  <a:r>
                    <a:rPr lang="ru-RU" sz="2000" kern="1200" dirty="0">
                      <a:solidFill>
                        <a:srgbClr val="000000"/>
                      </a:solidFill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субъекта агломерации,</a:t>
                  </a:r>
                </a:p>
                <a:p>
                  <a:pPr>
                    <a:lnSpc>
                      <a:spcPct val="100000"/>
                    </a:lnSpc>
                    <a:spcBef>
                      <a:spcPts val="600"/>
                    </a:spcBef>
                    <a:tabLst>
                      <a:tab pos="0" algn="l"/>
                    </a:tabLs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200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sz="2000" b="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я</m:t>
                          </m:r>
                        </m:sub>
                      </m:sSub>
                    </m:oMath>
                  </a14:m>
                  <a:r>
                    <a:rPr lang="ru-RU" sz="2000" dirty="0"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 - </a:t>
                  </a:r>
                  <a:r>
                    <a:rPr lang="ru-RU" sz="2000" dirty="0">
                      <a:solidFill>
                        <a:srgbClr val="000000"/>
                      </a:solidFill>
                      <a:latin typeface="Manrope" pitchFamily="2" charset="0"/>
                      <a:ea typeface="Times New Roman" panose="02020603050405020304" pitchFamily="18" charset="0"/>
                    </a:rPr>
                    <a:t>текущая численность населения</a:t>
                  </a:r>
                  <a:r>
                    <a:rPr lang="ru-RU" sz="2000" dirty="0"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 ядра,</a:t>
                  </a:r>
                </a:p>
                <a:p>
                  <a:pPr>
                    <a:lnSpc>
                      <a:spcPct val="100000"/>
                    </a:lnSpc>
                    <a:spcBef>
                      <a:spcPts val="600"/>
                    </a:spcBef>
                    <a:tabLst>
                      <a:tab pos="0" algn="l"/>
                    </a:tabLs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200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н</m:t>
                          </m:r>
                        </m:sub>
                      </m:sSub>
                    </m:oMath>
                  </a14:m>
                  <a:r>
                    <a:rPr lang="ru-RU" sz="2000" dirty="0"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 - </a:t>
                  </a:r>
                  <a:r>
                    <a:rPr lang="ru-RU" sz="2000" dirty="0">
                      <a:solidFill>
                        <a:srgbClr val="000000"/>
                      </a:solidFill>
                      <a:latin typeface="Manrope" pitchFamily="2" charset="0"/>
                      <a:ea typeface="Times New Roman" panose="02020603050405020304" pitchFamily="18" charset="0"/>
                    </a:rPr>
                    <a:t>текущая численность населения</a:t>
                  </a:r>
                  <a:r>
                    <a:rPr lang="ru-RU" sz="2000" dirty="0">
                      <a:effectLst/>
                      <a:latin typeface="Manrope" pitchFamily="2" charset="0"/>
                      <a:ea typeface="Times New Roman" panose="02020603050405020304" pitchFamily="18" charset="0"/>
                    </a:rPr>
                    <a:t> субъекта агломерации</a:t>
                  </a:r>
                </a:p>
                <a:p>
                  <a:pPr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fr-FR" sz="2000" dirty="0">
                    <a:solidFill>
                      <a:schemeClr val="dk1"/>
                    </a:solidFill>
                    <a:latin typeface="Manrope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96" name="PlaceHolder 1">
                  <a:extLst>
                    <a:ext uri="{FF2B5EF4-FFF2-40B4-BE49-F238E27FC236}">
                      <a16:creationId xmlns:a16="http://schemas.microsoft.com/office/drawing/2014/main" id="{463C5D2A-16FA-493F-8D5F-89ACDC7E63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50760" y="19821457"/>
                  <a:ext cx="4207715" cy="3763389"/>
                </a:xfrm>
                <a:prstGeom prst="rect">
                  <a:avLst/>
                </a:prstGeom>
                <a:blipFill>
                  <a:blip r:embed="rId38"/>
                  <a:stretch>
                    <a:fillRect l="-1310"/>
                  </a:stretch>
                </a:blipFill>
                <a:ln w="0"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A5B51787-9323-443D-BEB4-94E396A3427B}"/>
                    </a:ext>
                  </a:extLst>
                </p:cNvPr>
                <p:cNvSpPr txBox="1"/>
                <p:nvPr/>
              </p:nvSpPr>
              <p:spPr>
                <a:xfrm>
                  <a:off x="23454619" y="18618326"/>
                  <a:ext cx="4207716" cy="86423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200" i="1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ru-RU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ru-RU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ru-RU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ru-RU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ru-RU" sz="3200" b="0" i="1" smtClean="0">
                                        <a:latin typeface="Cambria Math" panose="02040503050406030204" pitchFamily="18" charset="0"/>
                                      </a:rPr>
                                      <m:t>п</m:t>
                                    </m:r>
                                    <m:r>
                                      <a:rPr lang="ru-RU" sz="3200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ru-RU" sz="3200" b="0" i="1" smtClean="0">
                                        <a:latin typeface="Cambria Math" panose="02040503050406030204" pitchFamily="18" charset="0"/>
                                      </a:rPr>
                                      <m:t>н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ru-RU" sz="3200" b="0" i="1" smtClean="0">
                                <a:latin typeface="Cambria Math" panose="02040503050406030204" pitchFamily="18" charset="0"/>
                              </a:rPr>
                              <m:t>я</m:t>
                            </m:r>
                            <m:r>
                              <a:rPr lang="ru-RU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ru-RU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н</m:t>
                            </m:r>
                          </m:den>
                        </m:f>
                      </m:oMath>
                    </m:oMathPara>
                  </a14:m>
                  <a:endParaRPr lang="ru-RU" sz="3200" dirty="0"/>
                </a:p>
              </p:txBody>
            </p:sp>
          </mc:Choice>
          <mc:Fallback xmlns="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A5B51787-9323-443D-BEB4-94E396A342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54619" y="18618326"/>
                  <a:ext cx="4207716" cy="864236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4" name="PlaceHolder 2">
              <a:extLst>
                <a:ext uri="{FF2B5EF4-FFF2-40B4-BE49-F238E27FC236}">
                  <a16:creationId xmlns:a16="http://schemas.microsoft.com/office/drawing/2014/main" id="{ABA444FF-C3F9-42D1-953B-322BDD35EEA0}"/>
                </a:ext>
              </a:extLst>
            </p:cNvPr>
            <p:cNvSpPr txBox="1">
              <a:spLocks/>
            </p:cNvSpPr>
            <p:nvPr/>
          </p:nvSpPr>
          <p:spPr>
            <a:xfrm>
              <a:off x="27778361" y="12298765"/>
              <a:ext cx="4207716" cy="11753180"/>
            </a:xfrm>
            <a:prstGeom prst="rect">
              <a:avLst/>
            </a:prstGeom>
            <a:noFill/>
            <a:ln w="0">
              <a:solidFill>
                <a:schemeClr val="tx2">
                  <a:lumMod val="25000"/>
                </a:schemeClr>
              </a:solidFill>
            </a:ln>
          </p:spPr>
          <p:txBody>
            <a:bodyPr spcFirstLastPara="1" vert="horz" wrap="square" lIns="91440" tIns="45720" rIns="91440" bIns="4572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buClr>
                  <a:schemeClr val="dk1"/>
                </a:buClr>
                <a:buSzPts val="1400"/>
              </a:pPr>
              <a:r>
                <a:rPr lang="en-US" sz="7200" b="1" spc="50" dirty="0">
                  <a:solidFill>
                    <a:schemeClr val="tx2">
                      <a:lumMod val="50000"/>
                    </a:schemeClr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R</a:t>
              </a:r>
              <a:endParaRPr lang="ru-RU" sz="7200" b="1" spc="50" dirty="0">
                <a:solidFill>
                  <a:schemeClr val="tx2">
                    <a:lumMod val="50000"/>
                  </a:schemeClr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958B5C76-F8B6-42A0-B4F0-7BE7E4EE01EB}"/>
              </a:ext>
            </a:extLst>
          </p:cNvPr>
          <p:cNvSpPr txBox="1"/>
          <p:nvPr/>
        </p:nvSpPr>
        <p:spPr>
          <a:xfrm>
            <a:off x="16858089" y="9122110"/>
            <a:ext cx="15046155" cy="2605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3000" b="1" dirty="0">
                <a:latin typeface="Manrope" pitchFamily="2" charset="0"/>
              </a:rPr>
              <a:t>Отсутствие чётких методов определения структуры агломерации</a:t>
            </a:r>
            <a:r>
              <a:rPr lang="ru-RU" sz="3000" dirty="0">
                <a:latin typeface="Manrope" pitchFamily="2" charset="0"/>
              </a:rPr>
              <a:t> и инструментов описания взаимного влияния её субъектов снижает эффективность управления агломерацией как системой. </a:t>
            </a:r>
            <a:br>
              <a:rPr lang="ru-RU" sz="3000" dirty="0">
                <a:latin typeface="Manrope" pitchFamily="2" charset="0"/>
              </a:rPr>
            </a:br>
            <a:r>
              <a:rPr lang="ru-RU" sz="3000" b="1" dirty="0">
                <a:latin typeface="Manrope" pitchFamily="2" charset="0"/>
              </a:rPr>
              <a:t>Это приводит к несбалансированному пространственному развитию </a:t>
            </a:r>
            <a:r>
              <a:rPr lang="ru-RU" sz="3000" dirty="0">
                <a:latin typeface="Manrope" pitchFamily="2" charset="0"/>
              </a:rPr>
              <a:t>и нагрузке на инфраструктуру ядра.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8B426BF-CBC2-48C5-A850-364D5D66D9D6}"/>
              </a:ext>
            </a:extLst>
          </p:cNvPr>
          <p:cNvSpPr txBox="1"/>
          <p:nvPr/>
        </p:nvSpPr>
        <p:spPr>
          <a:xfrm>
            <a:off x="855406" y="13352452"/>
            <a:ext cx="17285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atin typeface="Montserrat SemiBold" pitchFamily="2" charset="-52"/>
              </a:rPr>
              <a:t>Структурные элементы агломерации</a:t>
            </a:r>
            <a:r>
              <a:rPr lang="en-US" sz="3600" dirty="0">
                <a:latin typeface="Montserrat SemiBold" pitchFamily="2" charset="-52"/>
              </a:rPr>
              <a:t> </a:t>
            </a:r>
            <a:r>
              <a:rPr lang="ru-RU" sz="3600" dirty="0">
                <a:latin typeface="Montserrat SemiBold" pitchFamily="2" charset="-52"/>
              </a:rPr>
              <a:t>и их признаки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2444716-979C-4253-A0CE-A708F7DB76EE}"/>
              </a:ext>
            </a:extLst>
          </p:cNvPr>
          <p:cNvSpPr txBox="1"/>
          <p:nvPr/>
        </p:nvSpPr>
        <p:spPr>
          <a:xfrm>
            <a:off x="773573" y="23126230"/>
            <a:ext cx="31308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Montserrat SemiBold" pitchFamily="2" charset="-52"/>
              </a:rPr>
              <a:t>Гипотеза:</a:t>
            </a:r>
            <a:r>
              <a:rPr lang="ru-RU" sz="3200" dirty="0">
                <a:latin typeface="Manrope" pitchFamily="2" charset="0"/>
              </a:rPr>
              <a:t> оценка влияния ядра на пространственное развитие субъектов агломерации может стать основой метода определения структуры агломерации.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34D23A08-86FB-4B62-9569-0CAB57075363}"/>
                  </a:ext>
                </a:extLst>
              </p:cNvPr>
              <p:cNvSpPr txBox="1"/>
              <p:nvPr/>
            </p:nvSpPr>
            <p:spPr>
              <a:xfrm>
                <a:off x="1220311" y="28794299"/>
                <a:ext cx="6610410" cy="11657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600" b="0" i="1" smtClean="0">
                          <a:latin typeface="Cambria Math" panose="02040503050406030204" pitchFamily="18" charset="0"/>
                        </a:rPr>
                        <m:t>Т=</m:t>
                      </m:r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ru-RU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36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ru-RU" sz="3600" b="0" i="1" smtClean="0">
                                      <a:latin typeface="Cambria Math" panose="02040503050406030204" pitchFamily="18" charset="0"/>
                                    </a:rPr>
                                    <m:t>от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ru-RU" sz="3600" b="0" i="1" smtClean="0">
                                  <a:latin typeface="Cambria Math" panose="02040503050406030204" pitchFamily="18" charset="0"/>
                                </a:rPr>
                                <m:t>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sz="4000" dirty="0">
                  <a:latin typeface="Manrope" pitchFamily="2" charset="0"/>
                </a:endParaRP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34D23A08-86FB-4B62-9569-0CAB57075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11" y="28794299"/>
                <a:ext cx="6610410" cy="1165768"/>
              </a:xfrm>
              <a:prstGeom prst="rect">
                <a:avLst/>
              </a:prstGeom>
              <a:blipFill>
                <a:blip r:embed="rId1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PlaceHolder 1">
                <a:extLst>
                  <a:ext uri="{FF2B5EF4-FFF2-40B4-BE49-F238E27FC236}">
                    <a16:creationId xmlns:a16="http://schemas.microsoft.com/office/drawing/2014/main" id="{D4BFFF10-F555-46A3-9006-3BE1FE268E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95554" y="30312863"/>
                <a:ext cx="7057183" cy="164550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91440" rIns="91440" bIns="9144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  <a:spcBef>
                    <a:spcPts val="600"/>
                  </a:spcBef>
                  <a:tabLst>
                    <a:tab pos="0" algn="l"/>
                  </a:tabLst>
                </a:pPr>
                <a:r>
                  <a:rPr lang="ru-RU" sz="2000" dirty="0">
                    <a:effectLst/>
                    <a:latin typeface="Manrope" pitchFamily="2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</a:rPr>
                        </m:ctrlPr>
                      </m:sSubPr>
                      <m:e>
                        <m:r>
                          <a:rPr lang="en-US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2000" kern="1200" dirty="0">
                    <a:solidFill>
                      <a:srgbClr val="000000"/>
                    </a:solidFill>
                    <a:effectLst/>
                    <a:latin typeface="Manrope" pitchFamily="2" charset="0"/>
                    <a:ea typeface="Times New Roman" panose="02020603050405020304" pitchFamily="18" charset="0"/>
                  </a:rPr>
                  <a:t> – коэффициент влияни</a:t>
                </a:r>
                <a:r>
                  <a:rPr lang="ru-RU" sz="2000" dirty="0">
                    <a:solidFill>
                      <a:srgbClr val="000000"/>
                    </a:solidFill>
                    <a:latin typeface="Manrope" pitchFamily="2" charset="0"/>
                    <a:ea typeface="Times New Roman" panose="02020603050405020304" pitchFamily="18" charset="0"/>
                  </a:rPr>
                  <a:t>я</a:t>
                </a:r>
                <a:r>
                  <a:rPr lang="ru-RU" sz="2000" kern="1200" dirty="0">
                    <a:solidFill>
                      <a:srgbClr val="000000"/>
                    </a:solidFill>
                    <a:effectLst/>
                    <a:latin typeface="Manrope" pitchFamily="2" charset="0"/>
                    <a:ea typeface="Times New Roman" panose="02020603050405020304" pitchFamily="18" charset="0"/>
                  </a:rPr>
                  <a:t> транспортного аспекта</a:t>
                </a:r>
                <a:endParaRPr lang="ru-RU" sz="2000" i="1" kern="1200" dirty="0">
                  <a:solidFill>
                    <a:srgbClr val="000000"/>
                  </a:solidFill>
                  <a:effectLst/>
                  <a:latin typeface="Manrope" pitchFamily="2" charset="0"/>
                  <a:ea typeface="Yu Mincho" panose="02020400000000000000" pitchFamily="18" charset="-128"/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tabLst>
                    <a:tab pos="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</a:rPr>
                        </m:ctrlPr>
                      </m:sSubPr>
                      <m:e>
                        <m:r>
                          <a:rPr lang="en-US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ru-RU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от</m:t>
                        </m:r>
                      </m:sub>
                    </m:sSub>
                  </m:oMath>
                </a14:m>
                <a:r>
                  <a:rPr lang="ru-RU" sz="2000" kern="1200" dirty="0">
                    <a:solidFill>
                      <a:srgbClr val="000000"/>
                    </a:solidFill>
                    <a:effectLst/>
                    <a:latin typeface="Manrope" pitchFamily="2" charset="0"/>
                    <a:ea typeface="Times New Roman" panose="02020603050405020304" pitchFamily="18" charset="0"/>
                  </a:rPr>
                  <a:t> – количество типов общественного транспорта,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tabLst>
                    <a:tab pos="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</a:rPr>
                        </m:ctrlPr>
                      </m:sSubPr>
                      <m:e>
                        <m:r>
                          <a:rPr lang="en-US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ru-RU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п</m:t>
                        </m:r>
                      </m:sub>
                    </m:sSub>
                  </m:oMath>
                </a14:m>
                <a:r>
                  <a:rPr lang="en-US" sz="2000" kern="1200" dirty="0">
                    <a:solidFill>
                      <a:srgbClr val="000000"/>
                    </a:solidFill>
                    <a:effectLst/>
                    <a:latin typeface="Manrope" pitchFamily="2" charset="0"/>
                    <a:ea typeface="Times New Roman" panose="02020603050405020304" pitchFamily="18" charset="0"/>
                  </a:rPr>
                  <a:t> </a:t>
                </a:r>
                <a:r>
                  <a:rPr lang="ru-RU" sz="2000" kern="1200" dirty="0">
                    <a:solidFill>
                      <a:srgbClr val="000000"/>
                    </a:solidFill>
                    <a:effectLst/>
                    <a:latin typeface="Manrope" pitchFamily="2" charset="0"/>
                    <a:ea typeface="Times New Roman" panose="02020603050405020304" pitchFamily="18" charset="0"/>
                  </a:rPr>
                  <a:t>– номер транспортного </a:t>
                </a:r>
                <a:r>
                  <a:rPr lang="ru-RU" sz="2000" dirty="0">
                    <a:solidFill>
                      <a:srgbClr val="000000"/>
                    </a:solidFill>
                    <a:latin typeface="Manrope" pitchFamily="2" charset="0"/>
                    <a:ea typeface="Times New Roman" panose="02020603050405020304" pitchFamily="18" charset="0"/>
                  </a:rPr>
                  <a:t>пояса по удалённости</a:t>
                </a:r>
                <a:r>
                  <a:rPr lang="ru-RU" sz="2000" kern="1200" dirty="0">
                    <a:solidFill>
                      <a:srgbClr val="000000"/>
                    </a:solidFill>
                    <a:effectLst/>
                    <a:latin typeface="Manrope" pitchFamily="2" charset="0"/>
                    <a:ea typeface="Times New Roman" panose="02020603050405020304" pitchFamily="18" charset="0"/>
                  </a:rPr>
                  <a:t>.</a:t>
                </a:r>
                <a:endParaRPr lang="ru-RU" sz="2000" dirty="0">
                  <a:effectLst/>
                  <a:latin typeface="Manrope" pitchFamily="2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2" name="PlaceHolder 1">
                <a:extLst>
                  <a:ext uri="{FF2B5EF4-FFF2-40B4-BE49-F238E27FC236}">
                    <a16:creationId xmlns:a16="http://schemas.microsoft.com/office/drawing/2014/main" id="{D4BFFF10-F555-46A3-9006-3BE1FE268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554" y="30312863"/>
                <a:ext cx="7057183" cy="1645506"/>
              </a:xfrm>
              <a:prstGeom prst="rect">
                <a:avLst/>
              </a:prstGeom>
              <a:blipFill>
                <a:blip r:embed="rId12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B49FCFB4-A3BE-4B32-BDA7-8D38C10CF8C7}"/>
                  </a:ext>
                </a:extLst>
              </p:cNvPr>
              <p:cNvSpPr txBox="1"/>
              <p:nvPr/>
            </p:nvSpPr>
            <p:spPr>
              <a:xfrm>
                <a:off x="17650362" y="28859158"/>
                <a:ext cx="4645214" cy="1257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i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ru-RU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ru-RU" sz="3600" dirty="0">
                              <a:latin typeface="Bahnschrift" panose="020B0502040204020203" pitchFamily="34" charset="0"/>
                            </a:rPr>
                            <m:t>∑</m:t>
                          </m:r>
                          <m:r>
                            <m:rPr>
                              <m:nor/>
                            </m:rPr>
                            <a:rPr lang="en-US" sz="3600" dirty="0">
                              <a:latin typeface="Bahnschrift" panose="020B0502040204020203" pitchFamily="34" charset="0"/>
                            </a:rPr>
                            <m:t> |</m:t>
                          </m:r>
                          <m:r>
                            <m:rPr>
                              <m:nor/>
                            </m:rPr>
                            <a:rPr lang="ru-RU" sz="3600" dirty="0">
                              <a:latin typeface="Bahnschrift" panose="020B0502040204020203" pitchFamily="34" charset="0"/>
                            </a:rPr>
                            <m:t>∆</m:t>
                          </m:r>
                          <m:r>
                            <m:rPr>
                              <m:nor/>
                            </m:rPr>
                            <a:rPr lang="en-US" sz="3600" dirty="0">
                              <a:latin typeface="Bahnschrift" panose="020B0502040204020203" pitchFamily="34" charset="0"/>
                            </a:rPr>
                            <m:t>|</m:t>
                          </m:r>
                          <m:r>
                            <m:rPr>
                              <m:nor/>
                            </m:rPr>
                            <a:rPr lang="ru-RU" sz="3600" dirty="0">
                              <a:latin typeface="Bahnschrift" panose="020B0502040204020203" pitchFamily="34" charset="0"/>
                            </a:rPr>
                            <m:t> </m:t>
                          </m:r>
                        </m:num>
                        <m:den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3600" i="1">
                                  <a:latin typeface="Cambria Math" panose="02040503050406030204" pitchFamily="18" charset="0"/>
                                </a:rPr>
                                <m:t>р</m:t>
                              </m:r>
                            </m:sub>
                          </m:sSub>
                          <m:r>
                            <a:rPr lang="ru-RU" sz="3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3600" i="1">
                                  <a:latin typeface="Cambria Math" panose="02040503050406030204" pitchFamily="18" charset="0"/>
                                </a:rPr>
                                <m:t>н</m:t>
                              </m:r>
                            </m:sub>
                          </m:sSub>
                        </m:den>
                      </m:f>
                      <m:r>
                        <a:rPr lang="ru-RU" sz="3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 sz="3600" b="0" i="1" smtClean="0">
                                  <a:latin typeface="Cambria Math" panose="02040503050406030204" pitchFamily="18" charset="0"/>
                                </a:rPr>
                                <m:t>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 sz="3600" b="0" i="1" smtClean="0">
                                  <a:latin typeface="Cambria Math" panose="02040503050406030204" pitchFamily="18" charset="0"/>
                                </a:rPr>
                                <m:t>я</m:t>
                              </m:r>
                            </m:sub>
                          </m:sSub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3600" dirty="0"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B49FCFB4-A3BE-4B32-BDA7-8D38C10CF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0362" y="28859158"/>
                <a:ext cx="4645214" cy="1257332"/>
              </a:xfrm>
              <a:prstGeom prst="rect">
                <a:avLst/>
              </a:prstGeom>
              <a:blipFill>
                <a:blip r:embed="rId1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5B6373C1-F0A8-4D07-98BE-EB5240EF7B4C}"/>
                  </a:ext>
                </a:extLst>
              </p:cNvPr>
              <p:cNvSpPr txBox="1"/>
              <p:nvPr/>
            </p:nvSpPr>
            <p:spPr>
              <a:xfrm>
                <a:off x="7835235" y="28797270"/>
                <a:ext cx="8570758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i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ru-R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ru-RU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ru-RU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ru-RU" sz="3600" b="0" i="1" smtClean="0">
                                      <a:latin typeface="Cambria Math" panose="02040503050406030204" pitchFamily="18" charset="0"/>
                                    </a:rPr>
                                    <m:t>п</m:t>
                                  </m:r>
                                  <m:r>
                                    <a:rPr lang="ru-RU" sz="3600" i="1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ru-RU" sz="3600" b="0" i="1" smtClean="0">
                                      <a:latin typeface="Cambria Math" panose="02040503050406030204" pitchFamily="18" charset="0"/>
                                    </a:rPr>
                                    <m:t>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я</m:t>
                          </m:r>
                          <m:r>
                            <a:rPr lang="ru-RU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ru-RU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н</m:t>
                          </m:r>
                        </m:den>
                      </m:f>
                    </m:oMath>
                  </m:oMathPara>
                </a14:m>
                <a:endParaRPr lang="ru-RU" sz="36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5B6373C1-F0A8-4D07-98BE-EB5240EF7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5235" y="28797270"/>
                <a:ext cx="8570758" cy="1107996"/>
              </a:xfrm>
              <a:prstGeom prst="rect">
                <a:avLst/>
              </a:prstGeom>
              <a:blipFill>
                <a:blip r:embed="rId1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PlaceHolder 1">
                <a:extLst>
                  <a:ext uri="{FF2B5EF4-FFF2-40B4-BE49-F238E27FC236}">
                    <a16:creationId xmlns:a16="http://schemas.microsoft.com/office/drawing/2014/main" id="{B719C572-BCDF-41EF-8A84-918E36009F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58090" y="30257627"/>
                <a:ext cx="7057183" cy="256908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91440" rIns="91440" bIns="9144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  <a:spcBef>
                    <a:spcPts val="600"/>
                  </a:spcBef>
                  <a:tabLst>
                    <a:tab pos="0" algn="l"/>
                  </a:tabLst>
                </a:pPr>
                <a:r>
                  <a:rPr lang="ru-RU" sz="2000" dirty="0">
                    <a:effectLst/>
                    <a:latin typeface="Manrope" pitchFamily="2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</a:rPr>
                        </m:ctrlPr>
                      </m:sSubPr>
                      <m:e>
                        <m:r>
                          <a:rPr lang="en-US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kern="12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ru-RU" sz="2000" kern="1200" dirty="0">
                    <a:solidFill>
                      <a:srgbClr val="000000"/>
                    </a:solidFill>
                    <a:effectLst/>
                    <a:latin typeface="Manrope" pitchFamily="2" charset="0"/>
                    <a:ea typeface="Times New Roman" panose="02020603050405020304" pitchFamily="18" charset="0"/>
                  </a:rPr>
                  <a:t> – коэффициент влияни</a:t>
                </a:r>
                <a:r>
                  <a:rPr lang="ru-RU" sz="2000" dirty="0">
                    <a:solidFill>
                      <a:srgbClr val="000000"/>
                    </a:solidFill>
                    <a:latin typeface="Manrope" pitchFamily="2" charset="0"/>
                    <a:ea typeface="Times New Roman" panose="02020603050405020304" pitchFamily="18" charset="0"/>
                  </a:rPr>
                  <a:t>я</a:t>
                </a:r>
                <a:r>
                  <a:rPr lang="ru-RU" sz="2000" kern="1200" dirty="0">
                    <a:solidFill>
                      <a:srgbClr val="000000"/>
                    </a:solidFill>
                    <a:effectLst/>
                    <a:latin typeface="Manrope" pitchFamily="2" charset="0"/>
                    <a:ea typeface="Times New Roman" panose="02020603050405020304" pitchFamily="18" charset="0"/>
                  </a:rPr>
                  <a:t> пространственного аспекта, </a:t>
                </a:r>
                <a:endParaRPr lang="ru-RU" sz="2000" i="1" kern="1200" dirty="0">
                  <a:solidFill>
                    <a:srgbClr val="000000"/>
                  </a:solidFill>
                  <a:effectLst/>
                  <a:latin typeface="Manrope" pitchFamily="2" charset="0"/>
                  <a:ea typeface="Yu Mincho" panose="02020400000000000000" pitchFamily="18" charset="-128"/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tabLst>
                    <a:tab pos="0" algn="l"/>
                  </a:tabLs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2000" dirty="0">
                        <a:latin typeface="Bahnschrift" panose="020B0502040204020203" pitchFamily="34" charset="0"/>
                      </a:rPr>
                      <m:t>∑</m:t>
                    </m:r>
                    <m:r>
                      <m:rPr>
                        <m:nor/>
                      </m:rPr>
                      <a:rPr lang="en-US" sz="2000" dirty="0">
                        <a:latin typeface="Bahnschrift" panose="020B0502040204020203" pitchFamily="34" charset="0"/>
                      </a:rPr>
                      <m:t> |</m:t>
                    </m:r>
                    <m:r>
                      <m:rPr>
                        <m:nor/>
                      </m:rPr>
                      <a:rPr lang="ru-RU" sz="2000" dirty="0">
                        <a:latin typeface="Bahnschrift" panose="020B0502040204020203" pitchFamily="34" charset="0"/>
                      </a:rPr>
                      <m:t>∆</m:t>
                    </m:r>
                    <m:r>
                      <m:rPr>
                        <m:nor/>
                      </m:rPr>
                      <a:rPr lang="en-US" sz="2000" dirty="0">
                        <a:latin typeface="Bahnschrift" panose="020B0502040204020203" pitchFamily="34" charset="0"/>
                      </a:rPr>
                      <m:t>|</m:t>
                    </m:r>
                  </m:oMath>
                </a14:m>
                <a:r>
                  <a:rPr lang="ru-RU" sz="2000" kern="1200" dirty="0">
                    <a:solidFill>
                      <a:srgbClr val="000000"/>
                    </a:solidFill>
                    <a:effectLst/>
                    <a:latin typeface="Manrope" pitchFamily="2" charset="0"/>
                    <a:ea typeface="Times New Roman" panose="02020603050405020304" pitchFamily="18" charset="0"/>
                  </a:rPr>
                  <a:t> – суммарное процентное изменение долей функциональных зон,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tabLst>
                    <a:tab pos="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р</m:t>
                        </m:r>
                      </m:sub>
                    </m:sSub>
                    <m:r>
                      <a:rPr lang="ru-RU" sz="20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н</m:t>
                        </m:r>
                      </m:sub>
                    </m:sSub>
                  </m:oMath>
                </a14:m>
                <a:r>
                  <a:rPr lang="ru-RU" sz="2000" dirty="0">
                    <a:solidFill>
                      <a:srgbClr val="000000"/>
                    </a:solidFill>
                    <a:latin typeface="Manrope" pitchFamily="2" charset="0"/>
                    <a:ea typeface="Times New Roman" panose="02020603050405020304" pitchFamily="18" charset="0"/>
                  </a:rPr>
                  <a:t>- расчётный и текущий год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tabLst>
                    <a:tab pos="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п</m:t>
                        </m:r>
                      </m:sub>
                    </m:sSub>
                  </m:oMath>
                </a14:m>
                <a:r>
                  <a:rPr lang="en-US" sz="2000" kern="1200" dirty="0">
                    <a:solidFill>
                      <a:srgbClr val="000000"/>
                    </a:solidFill>
                    <a:effectLst/>
                    <a:latin typeface="Manrope" pitchFamily="2" charset="0"/>
                    <a:ea typeface="Times New Roman" panose="02020603050405020304" pitchFamily="18" charset="0"/>
                  </a:rPr>
                  <a:t> </a:t>
                </a:r>
                <a:r>
                  <a:rPr lang="ru-RU" sz="2000" kern="1200" dirty="0">
                    <a:solidFill>
                      <a:srgbClr val="000000"/>
                    </a:solidFill>
                    <a:effectLst/>
                    <a:latin typeface="Manrope" pitchFamily="2" charset="0"/>
                    <a:ea typeface="Times New Roman" panose="02020603050405020304" pitchFamily="18" charset="0"/>
                  </a:rPr>
                  <a:t>– площадь субъекта агломерации,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tabLst>
                    <a:tab pos="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kern="12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2000" b="0" i="1" kern="12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я</m:t>
                        </m:r>
                      </m:sub>
                    </m:sSub>
                  </m:oMath>
                </a14:m>
                <a:r>
                  <a:rPr lang="ru-RU" sz="2000" dirty="0">
                    <a:effectLst/>
                    <a:latin typeface="Manrope" pitchFamily="2" charset="0"/>
                    <a:ea typeface="Times New Roman" panose="02020603050405020304" pitchFamily="18" charset="0"/>
                  </a:rPr>
                  <a:t> - площадь ядра</a:t>
                </a:r>
              </a:p>
              <a:p>
                <a:pPr>
                  <a:lnSpc>
                    <a:spcPct val="100000"/>
                  </a:lnSpc>
                  <a:tabLst>
                    <a:tab pos="0" algn="l"/>
                  </a:tabLst>
                </a:pPr>
                <a:endParaRPr lang="fr-FR" sz="2000" dirty="0">
                  <a:solidFill>
                    <a:schemeClr val="dk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8" name="PlaceHolder 1">
                <a:extLst>
                  <a:ext uri="{FF2B5EF4-FFF2-40B4-BE49-F238E27FC236}">
                    <a16:creationId xmlns:a16="http://schemas.microsoft.com/office/drawing/2014/main" id="{B719C572-BCDF-41EF-8A84-918E36009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8090" y="30257627"/>
                <a:ext cx="7057183" cy="2569086"/>
              </a:xfrm>
              <a:prstGeom prst="rect">
                <a:avLst/>
              </a:prstGeom>
              <a:blipFill>
                <a:blip r:embed="rId131"/>
                <a:stretch>
                  <a:fillRect l="-864" r="-129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PlaceHolder 1">
                <a:extLst>
                  <a:ext uri="{FF2B5EF4-FFF2-40B4-BE49-F238E27FC236}">
                    <a16:creationId xmlns:a16="http://schemas.microsoft.com/office/drawing/2014/main" id="{912ECA36-848C-4B31-B6E6-60DD9AD614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75193" y="30242868"/>
                <a:ext cx="7057183" cy="225323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91440" rIns="91440" bIns="9144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  <a:spcBef>
                    <a:spcPts val="600"/>
                  </a:spcBef>
                  <a:tabLst>
                    <a:tab pos="0" algn="l"/>
                  </a:tabLst>
                </a:pPr>
                <a:r>
                  <a:rPr lang="ru-RU" sz="2000" dirty="0">
                    <a:effectLst/>
                    <a:latin typeface="Manrope" pitchFamily="2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</a:rPr>
                        </m:ctrlPr>
                      </m:sSubPr>
                      <m:e>
                        <m:r>
                          <a:rPr lang="en-US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kern="12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ru-RU" sz="2000" kern="1200" dirty="0">
                    <a:solidFill>
                      <a:srgbClr val="000000"/>
                    </a:solidFill>
                    <a:effectLst/>
                    <a:latin typeface="Manrope" pitchFamily="2" charset="0"/>
                    <a:ea typeface="Times New Roman" panose="02020603050405020304" pitchFamily="18" charset="0"/>
                  </a:rPr>
                  <a:t> – коэффициент влияни</a:t>
                </a:r>
                <a:r>
                  <a:rPr lang="ru-RU" sz="2000" dirty="0">
                    <a:solidFill>
                      <a:srgbClr val="000000"/>
                    </a:solidFill>
                    <a:latin typeface="Manrope" pitchFamily="2" charset="0"/>
                    <a:ea typeface="Times New Roman" panose="02020603050405020304" pitchFamily="18" charset="0"/>
                  </a:rPr>
                  <a:t>я</a:t>
                </a:r>
                <a:r>
                  <a:rPr lang="ru-RU" sz="2000" kern="1200" dirty="0">
                    <a:solidFill>
                      <a:srgbClr val="000000"/>
                    </a:solidFill>
                    <a:effectLst/>
                    <a:latin typeface="Manrope" pitchFamily="2" charset="0"/>
                    <a:ea typeface="Times New Roman" panose="02020603050405020304" pitchFamily="18" charset="0"/>
                  </a:rPr>
                  <a:t> </a:t>
                </a:r>
                <a:r>
                  <a:rPr lang="ru-RU" sz="2000" dirty="0">
                    <a:solidFill>
                      <a:srgbClr val="000000"/>
                    </a:solidFill>
                    <a:latin typeface="Manrope" pitchFamily="2" charset="0"/>
                    <a:ea typeface="Times New Roman" panose="02020603050405020304" pitchFamily="18" charset="0"/>
                  </a:rPr>
                  <a:t>демографическ</a:t>
                </a:r>
                <a:r>
                  <a:rPr lang="ru-RU" sz="2000" kern="1200" dirty="0">
                    <a:solidFill>
                      <a:srgbClr val="000000"/>
                    </a:solidFill>
                    <a:effectLst/>
                    <a:latin typeface="Manrope" pitchFamily="2" charset="0"/>
                    <a:ea typeface="Times New Roman" panose="02020603050405020304" pitchFamily="18" charset="0"/>
                  </a:rPr>
                  <a:t>ого аспекта</a:t>
                </a:r>
                <a:r>
                  <a:rPr lang="ru-RU" sz="2000" dirty="0">
                    <a:solidFill>
                      <a:srgbClr val="000000"/>
                    </a:solidFill>
                    <a:latin typeface="Manrope" pitchFamily="2" charset="0"/>
                    <a:ea typeface="Times New Roman" panose="02020603050405020304" pitchFamily="18" charset="0"/>
                  </a:rPr>
                  <a:t>, 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tabLst>
                    <a:tab pos="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п</m:t>
                        </m:r>
                      </m:sub>
                    </m:sSub>
                  </m:oMath>
                </a14:m>
                <a:r>
                  <a:rPr lang="en-US" sz="2000" kern="1200" dirty="0">
                    <a:solidFill>
                      <a:srgbClr val="000000"/>
                    </a:solidFill>
                    <a:effectLst/>
                    <a:latin typeface="Manrope" pitchFamily="2" charset="0"/>
                    <a:ea typeface="Times New Roman" panose="02020603050405020304" pitchFamily="18" charset="0"/>
                  </a:rPr>
                  <a:t> </a:t>
                </a:r>
                <a:r>
                  <a:rPr lang="ru-RU" sz="2000" kern="1200" dirty="0">
                    <a:solidFill>
                      <a:srgbClr val="000000"/>
                    </a:solidFill>
                    <a:effectLst/>
                    <a:latin typeface="Manrope" pitchFamily="2" charset="0"/>
                    <a:ea typeface="Times New Roman" panose="02020603050405020304" pitchFamily="18" charset="0"/>
                  </a:rPr>
                  <a:t>– </a:t>
                </a:r>
                <a:r>
                  <a:rPr lang="ru-RU" sz="2000" dirty="0">
                    <a:solidFill>
                      <a:srgbClr val="000000"/>
                    </a:solidFill>
                    <a:latin typeface="Manrope" pitchFamily="2" charset="0"/>
                    <a:ea typeface="Times New Roman" panose="02020603050405020304" pitchFamily="18" charset="0"/>
                  </a:rPr>
                  <a:t>перспективная численность населения </a:t>
                </a:r>
                <a:r>
                  <a:rPr lang="ru-RU" sz="2000" kern="1200" dirty="0">
                    <a:solidFill>
                      <a:srgbClr val="000000"/>
                    </a:solidFill>
                    <a:effectLst/>
                    <a:latin typeface="Manrope" pitchFamily="2" charset="0"/>
                    <a:ea typeface="Times New Roman" panose="02020603050405020304" pitchFamily="18" charset="0"/>
                  </a:rPr>
                  <a:t>субъекта агломерации,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tabLst>
                    <a:tab pos="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kern="12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sz="2000" b="0" i="1" kern="12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я</m:t>
                        </m:r>
                      </m:sub>
                    </m:sSub>
                  </m:oMath>
                </a14:m>
                <a:r>
                  <a:rPr lang="ru-RU" sz="2000" dirty="0">
                    <a:effectLst/>
                    <a:latin typeface="Manrope" pitchFamily="2" charset="0"/>
                    <a:ea typeface="Times New Roman" panose="02020603050405020304" pitchFamily="18" charset="0"/>
                  </a:rPr>
                  <a:t> - </a:t>
                </a:r>
                <a:r>
                  <a:rPr lang="ru-RU" sz="2000" dirty="0">
                    <a:solidFill>
                      <a:srgbClr val="000000"/>
                    </a:solidFill>
                    <a:latin typeface="Manrope" pitchFamily="2" charset="0"/>
                    <a:ea typeface="Times New Roman" panose="02020603050405020304" pitchFamily="18" charset="0"/>
                  </a:rPr>
                  <a:t>текущая численность населения</a:t>
                </a:r>
                <a:r>
                  <a:rPr lang="ru-RU" sz="2000" dirty="0">
                    <a:effectLst/>
                    <a:latin typeface="Manrope" pitchFamily="2" charset="0"/>
                    <a:ea typeface="Times New Roman" panose="02020603050405020304" pitchFamily="18" charset="0"/>
                  </a:rPr>
                  <a:t> ядра,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tabLst>
                    <a:tab pos="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kern="12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н</m:t>
                        </m:r>
                      </m:sub>
                    </m:sSub>
                  </m:oMath>
                </a14:m>
                <a:r>
                  <a:rPr lang="ru-RU" sz="2000" dirty="0">
                    <a:effectLst/>
                    <a:latin typeface="Manrope" pitchFamily="2" charset="0"/>
                    <a:ea typeface="Times New Roman" panose="02020603050405020304" pitchFamily="18" charset="0"/>
                  </a:rPr>
                  <a:t> - </a:t>
                </a:r>
                <a:r>
                  <a:rPr lang="ru-RU" sz="2000" dirty="0">
                    <a:solidFill>
                      <a:srgbClr val="000000"/>
                    </a:solidFill>
                    <a:latin typeface="Manrope" pitchFamily="2" charset="0"/>
                    <a:ea typeface="Times New Roman" panose="02020603050405020304" pitchFamily="18" charset="0"/>
                  </a:rPr>
                  <a:t>текущая численность населения</a:t>
                </a:r>
                <a:r>
                  <a:rPr lang="ru-RU" sz="2000" dirty="0">
                    <a:effectLst/>
                    <a:latin typeface="Manrope" pitchFamily="2" charset="0"/>
                    <a:ea typeface="Times New Roman" panose="02020603050405020304" pitchFamily="18" charset="0"/>
                  </a:rPr>
                  <a:t> субъекта агломерации</a:t>
                </a:r>
              </a:p>
            </p:txBody>
          </p:sp>
        </mc:Choice>
        <mc:Fallback xmlns="">
          <p:sp>
            <p:nvSpPr>
              <p:cNvPr id="132" name="PlaceHolder 1">
                <a:extLst>
                  <a:ext uri="{FF2B5EF4-FFF2-40B4-BE49-F238E27FC236}">
                    <a16:creationId xmlns:a16="http://schemas.microsoft.com/office/drawing/2014/main" id="{912ECA36-848C-4B31-B6E6-60DD9AD61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5193" y="30242868"/>
                <a:ext cx="7057183" cy="2253233"/>
              </a:xfrm>
              <a:prstGeom prst="rect">
                <a:avLst/>
              </a:prstGeom>
              <a:blipFill>
                <a:blip r:embed="rId132"/>
                <a:stretch>
                  <a:fillRect l="-951" b="-324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Блок-схема: узел 23">
            <a:extLst>
              <a:ext uri="{FF2B5EF4-FFF2-40B4-BE49-F238E27FC236}">
                <a16:creationId xmlns:a16="http://schemas.microsoft.com/office/drawing/2014/main" id="{D6271B44-1957-4789-A2E3-70879CA0AEC1}"/>
              </a:ext>
            </a:extLst>
          </p:cNvPr>
          <p:cNvSpPr/>
          <p:nvPr/>
        </p:nvSpPr>
        <p:spPr>
          <a:xfrm>
            <a:off x="41941045" y="41097410"/>
            <a:ext cx="1080000" cy="1080000"/>
          </a:xfrm>
          <a:prstGeom prst="flowChartConnector">
            <a:avLst/>
          </a:prstGeom>
          <a:noFill/>
          <a:ln w="209550" cmpd="dbl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Блок-схема: узел 24">
            <a:extLst>
              <a:ext uri="{FF2B5EF4-FFF2-40B4-BE49-F238E27FC236}">
                <a16:creationId xmlns:a16="http://schemas.microsoft.com/office/drawing/2014/main" id="{71EB4F3F-A56C-4B32-AE76-2020DE24AA14}"/>
              </a:ext>
            </a:extLst>
          </p:cNvPr>
          <p:cNvSpPr/>
          <p:nvPr/>
        </p:nvSpPr>
        <p:spPr>
          <a:xfrm>
            <a:off x="43588718" y="39999331"/>
            <a:ext cx="1080000" cy="1080000"/>
          </a:xfrm>
          <a:prstGeom prst="flowChartConnector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0" name="Блок-схема: узел 139">
            <a:extLst>
              <a:ext uri="{FF2B5EF4-FFF2-40B4-BE49-F238E27FC236}">
                <a16:creationId xmlns:a16="http://schemas.microsoft.com/office/drawing/2014/main" id="{838A8A71-EDAE-41A4-97C7-0CDD70F758CB}"/>
              </a:ext>
            </a:extLst>
          </p:cNvPr>
          <p:cNvSpPr/>
          <p:nvPr/>
        </p:nvSpPr>
        <p:spPr>
          <a:xfrm>
            <a:off x="41401045" y="38936118"/>
            <a:ext cx="1080000" cy="1080000"/>
          </a:xfrm>
          <a:prstGeom prst="flowChartConnector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1" name="Блок-схема: узел 140">
            <a:extLst>
              <a:ext uri="{FF2B5EF4-FFF2-40B4-BE49-F238E27FC236}">
                <a16:creationId xmlns:a16="http://schemas.microsoft.com/office/drawing/2014/main" id="{6EFD6C65-727B-4576-905C-531768693647}"/>
              </a:ext>
            </a:extLst>
          </p:cNvPr>
          <p:cNvSpPr/>
          <p:nvPr/>
        </p:nvSpPr>
        <p:spPr>
          <a:xfrm>
            <a:off x="45322119" y="45488168"/>
            <a:ext cx="1080000" cy="1080000"/>
          </a:xfrm>
          <a:prstGeom prst="flowChartConnector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2" name="Блок-схема: узел 141">
            <a:extLst>
              <a:ext uri="{FF2B5EF4-FFF2-40B4-BE49-F238E27FC236}">
                <a16:creationId xmlns:a16="http://schemas.microsoft.com/office/drawing/2014/main" id="{312FB248-2F14-45B5-A0A8-4D73C7A6310F}"/>
              </a:ext>
            </a:extLst>
          </p:cNvPr>
          <p:cNvSpPr/>
          <p:nvPr/>
        </p:nvSpPr>
        <p:spPr>
          <a:xfrm>
            <a:off x="41258838" y="44285134"/>
            <a:ext cx="1080000" cy="1080000"/>
          </a:xfrm>
          <a:prstGeom prst="flowChartConnector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A578CECC-AA0D-44DA-A656-6AF8B063CF1A}"/>
              </a:ext>
            </a:extLst>
          </p:cNvPr>
          <p:cNvCxnSpPr>
            <a:cxnSpLocks/>
          </p:cNvCxnSpPr>
          <p:nvPr/>
        </p:nvCxnSpPr>
        <p:spPr>
          <a:xfrm>
            <a:off x="42077640" y="39999331"/>
            <a:ext cx="261198" cy="96755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Прямая соединительная линия 149">
            <a:extLst>
              <a:ext uri="{FF2B5EF4-FFF2-40B4-BE49-F238E27FC236}">
                <a16:creationId xmlns:a16="http://schemas.microsoft.com/office/drawing/2014/main" id="{D4F0EBFF-1D06-4194-B091-30914860C3BD}"/>
              </a:ext>
            </a:extLst>
          </p:cNvPr>
          <p:cNvCxnSpPr>
            <a:cxnSpLocks/>
          </p:cNvCxnSpPr>
          <p:nvPr/>
        </p:nvCxnSpPr>
        <p:spPr>
          <a:xfrm flipH="1">
            <a:off x="43015433" y="40850820"/>
            <a:ext cx="585903" cy="35903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Прямая соединительная линия 152">
            <a:extLst>
              <a:ext uri="{FF2B5EF4-FFF2-40B4-BE49-F238E27FC236}">
                <a16:creationId xmlns:a16="http://schemas.microsoft.com/office/drawing/2014/main" id="{C652C311-6888-448C-A123-343F2B7EAC00}"/>
              </a:ext>
            </a:extLst>
          </p:cNvPr>
          <p:cNvCxnSpPr>
            <a:cxnSpLocks/>
          </p:cNvCxnSpPr>
          <p:nvPr/>
        </p:nvCxnSpPr>
        <p:spPr>
          <a:xfrm flipH="1" flipV="1">
            <a:off x="42862502" y="42177411"/>
            <a:ext cx="2628898" cy="337494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Прямая соединительная линия 155">
            <a:extLst>
              <a:ext uri="{FF2B5EF4-FFF2-40B4-BE49-F238E27FC236}">
                <a16:creationId xmlns:a16="http://schemas.microsoft.com/office/drawing/2014/main" id="{94121A08-1F06-4778-9C1A-27E605CFB600}"/>
              </a:ext>
            </a:extLst>
          </p:cNvPr>
          <p:cNvCxnSpPr>
            <a:cxnSpLocks/>
          </p:cNvCxnSpPr>
          <p:nvPr/>
        </p:nvCxnSpPr>
        <p:spPr>
          <a:xfrm flipV="1">
            <a:off x="41941045" y="42289859"/>
            <a:ext cx="397793" cy="192900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2205F1C8-F6E2-47AE-B467-EB1FA48D9A39}"/>
              </a:ext>
            </a:extLst>
          </p:cNvPr>
          <p:cNvGrpSpPr/>
          <p:nvPr/>
        </p:nvGrpSpPr>
        <p:grpSpPr>
          <a:xfrm>
            <a:off x="27873355" y="416586"/>
            <a:ext cx="4030889" cy="5538718"/>
            <a:chOff x="27181481" y="112353"/>
            <a:chExt cx="5143281" cy="7632050"/>
          </a:xfrm>
        </p:grpSpPr>
        <p:sp>
          <p:nvSpPr>
            <p:cNvPr id="162" name="Блок-схема: узел 161">
              <a:extLst>
                <a:ext uri="{FF2B5EF4-FFF2-40B4-BE49-F238E27FC236}">
                  <a16:creationId xmlns:a16="http://schemas.microsoft.com/office/drawing/2014/main" id="{BDEA183C-2620-48B7-81F3-0FACCA370BDE}"/>
                </a:ext>
              </a:extLst>
            </p:cNvPr>
            <p:cNvSpPr/>
            <p:nvPr/>
          </p:nvSpPr>
          <p:spPr>
            <a:xfrm>
              <a:off x="27863688" y="2273645"/>
              <a:ext cx="1080000" cy="1080000"/>
            </a:xfrm>
            <a:prstGeom prst="flowChartConnector">
              <a:avLst/>
            </a:prstGeom>
            <a:noFill/>
            <a:ln w="209550" cmpd="dbl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3" name="Блок-схема: узел 162">
              <a:extLst>
                <a:ext uri="{FF2B5EF4-FFF2-40B4-BE49-F238E27FC236}">
                  <a16:creationId xmlns:a16="http://schemas.microsoft.com/office/drawing/2014/main" id="{668A10CF-21CA-4B2A-BA23-797BED9E7553}"/>
                </a:ext>
              </a:extLst>
            </p:cNvPr>
            <p:cNvSpPr/>
            <p:nvPr/>
          </p:nvSpPr>
          <p:spPr>
            <a:xfrm>
              <a:off x="29511361" y="1175566"/>
              <a:ext cx="1080000" cy="1080000"/>
            </a:xfrm>
            <a:prstGeom prst="flowChartConnector">
              <a:avLst/>
            </a:prstGeom>
            <a:noFill/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4" name="Блок-схема: узел 163">
              <a:extLst>
                <a:ext uri="{FF2B5EF4-FFF2-40B4-BE49-F238E27FC236}">
                  <a16:creationId xmlns:a16="http://schemas.microsoft.com/office/drawing/2014/main" id="{B063B3B4-855B-40A7-B66E-083F2692525C}"/>
                </a:ext>
              </a:extLst>
            </p:cNvPr>
            <p:cNvSpPr/>
            <p:nvPr/>
          </p:nvSpPr>
          <p:spPr>
            <a:xfrm>
              <a:off x="27323688" y="112353"/>
              <a:ext cx="1080000" cy="1080000"/>
            </a:xfrm>
            <a:prstGeom prst="flowChartConnector">
              <a:avLst/>
            </a:prstGeom>
            <a:noFill/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5" name="Блок-схема: узел 164">
              <a:extLst>
                <a:ext uri="{FF2B5EF4-FFF2-40B4-BE49-F238E27FC236}">
                  <a16:creationId xmlns:a16="http://schemas.microsoft.com/office/drawing/2014/main" id="{D7C182EB-63B8-46BB-B4CA-6AA1FF7D58AD}"/>
                </a:ext>
              </a:extLst>
            </p:cNvPr>
            <p:cNvSpPr/>
            <p:nvPr/>
          </p:nvSpPr>
          <p:spPr>
            <a:xfrm>
              <a:off x="31244762" y="6664403"/>
              <a:ext cx="1080000" cy="1080000"/>
            </a:xfrm>
            <a:prstGeom prst="flowChartConnector">
              <a:avLst/>
            </a:prstGeom>
            <a:noFill/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6" name="Блок-схема: узел 165">
              <a:extLst>
                <a:ext uri="{FF2B5EF4-FFF2-40B4-BE49-F238E27FC236}">
                  <a16:creationId xmlns:a16="http://schemas.microsoft.com/office/drawing/2014/main" id="{1A6FF947-73B3-40A0-A6F9-BEF7CA9C602B}"/>
                </a:ext>
              </a:extLst>
            </p:cNvPr>
            <p:cNvSpPr/>
            <p:nvPr/>
          </p:nvSpPr>
          <p:spPr>
            <a:xfrm>
              <a:off x="27181481" y="5461369"/>
              <a:ext cx="1080000" cy="1080000"/>
            </a:xfrm>
            <a:prstGeom prst="flowChartConnector">
              <a:avLst/>
            </a:prstGeom>
            <a:noFill/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67" name="Прямая соединительная линия 166">
              <a:extLst>
                <a:ext uri="{FF2B5EF4-FFF2-40B4-BE49-F238E27FC236}">
                  <a16:creationId xmlns:a16="http://schemas.microsoft.com/office/drawing/2014/main" id="{B8796E82-7752-4C82-BC59-2FC7E6DE3BFD}"/>
                </a:ext>
              </a:extLst>
            </p:cNvPr>
            <p:cNvCxnSpPr>
              <a:cxnSpLocks/>
            </p:cNvCxnSpPr>
            <p:nvPr/>
          </p:nvCxnSpPr>
          <p:spPr>
            <a:xfrm>
              <a:off x="28000283" y="1175566"/>
              <a:ext cx="261198" cy="967551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Прямая соединительная линия 167">
              <a:extLst>
                <a:ext uri="{FF2B5EF4-FFF2-40B4-BE49-F238E27FC236}">
                  <a16:creationId xmlns:a16="http://schemas.microsoft.com/office/drawing/2014/main" id="{C95E45F6-5D93-4BEF-BAD5-C6227C6386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938076" y="2027055"/>
              <a:ext cx="585903" cy="35903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Прямая соединительная линия 168">
              <a:extLst>
                <a:ext uri="{FF2B5EF4-FFF2-40B4-BE49-F238E27FC236}">
                  <a16:creationId xmlns:a16="http://schemas.microsoft.com/office/drawing/2014/main" id="{34A16BC2-B649-4496-99BE-AA10C73D8D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785145" y="3353646"/>
              <a:ext cx="2628898" cy="337494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Прямая соединительная линия 188">
              <a:extLst>
                <a:ext uri="{FF2B5EF4-FFF2-40B4-BE49-F238E27FC236}">
                  <a16:creationId xmlns:a16="http://schemas.microsoft.com/office/drawing/2014/main" id="{4FD3B56D-83EA-4170-9D17-9B83158AD7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863688" y="3466094"/>
              <a:ext cx="397793" cy="1929002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2" name="Таблица 41">
            <a:extLst>
              <a:ext uri="{FF2B5EF4-FFF2-40B4-BE49-F238E27FC236}">
                <a16:creationId xmlns:a16="http://schemas.microsoft.com/office/drawing/2014/main" id="{D96EDA51-D76E-485A-A2E8-29132F18B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653119"/>
              </p:ext>
            </p:extLst>
          </p:nvPr>
        </p:nvGraphicFramePr>
        <p:xfrm>
          <a:off x="17759036" y="13328821"/>
          <a:ext cx="13926855" cy="93167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8814">
                  <a:extLst>
                    <a:ext uri="{9D8B030D-6E8A-4147-A177-3AD203B41FA5}">
                      <a16:colId xmlns:a16="http://schemas.microsoft.com/office/drawing/2014/main" val="809965286"/>
                    </a:ext>
                  </a:extLst>
                </a:gridCol>
                <a:gridCol w="10788041">
                  <a:extLst>
                    <a:ext uri="{9D8B030D-6E8A-4147-A177-3AD203B41FA5}">
                      <a16:colId xmlns:a16="http://schemas.microsoft.com/office/drawing/2014/main" val="4266177795"/>
                    </a:ext>
                  </a:extLst>
                </a:gridCol>
              </a:tblGrid>
              <a:tr h="748701"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  <a:latin typeface="Manrope" pitchFamily="2" charset="0"/>
                        </a:rPr>
                        <a:t>Структурный элемент</a:t>
                      </a:r>
                      <a:endParaRPr lang="ru-RU" sz="2000" i="1" dirty="0">
                        <a:solidFill>
                          <a:schemeClr val="tx1"/>
                        </a:solidFill>
                        <a:effectLst/>
                        <a:latin typeface="Manrope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623" marR="1086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  <a:latin typeface="Manrope" pitchFamily="2" charset="0"/>
                        </a:rPr>
                        <a:t>Признаки</a:t>
                      </a:r>
                      <a:endParaRPr lang="ru-RU" sz="2000" i="1" dirty="0">
                        <a:solidFill>
                          <a:schemeClr val="tx1"/>
                        </a:solidFill>
                        <a:effectLst/>
                        <a:latin typeface="Manrope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623" marR="10862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006345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</a:pPr>
                      <a:r>
                        <a:rPr lang="ru-RU" sz="2000" dirty="0">
                          <a:effectLst/>
                          <a:latin typeface="Manrope" pitchFamily="2" charset="0"/>
                        </a:rPr>
                        <a:t>ядро агломерации</a:t>
                      </a:r>
                      <a:endParaRPr lang="ru-RU" sz="2000" i="1" dirty="0">
                        <a:solidFill>
                          <a:srgbClr val="1F497D"/>
                        </a:solidFill>
                        <a:effectLst/>
                        <a:latin typeface="Manrope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623" marR="10862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100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ru-RU" sz="2000" dirty="0">
                          <a:effectLst/>
                          <a:latin typeface="Manrope" pitchFamily="2" charset="0"/>
                        </a:rPr>
                        <a:t>определено стратегией</a:t>
                      </a:r>
                      <a:endParaRPr lang="ru-RU" sz="2000" i="1" dirty="0">
                        <a:solidFill>
                          <a:srgbClr val="1F497D"/>
                        </a:solidFill>
                        <a:effectLst/>
                        <a:latin typeface="Manrope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623" marR="10862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23441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</a:pPr>
                      <a:r>
                        <a:rPr lang="ru-RU" sz="2000">
                          <a:effectLst/>
                          <a:latin typeface="Manrope" pitchFamily="2" charset="0"/>
                        </a:rPr>
                        <a:t>зона влияния ядра</a:t>
                      </a:r>
                      <a:endParaRPr lang="ru-RU" sz="2000" i="1">
                        <a:solidFill>
                          <a:srgbClr val="1F497D"/>
                        </a:solidFill>
                        <a:effectLst/>
                        <a:latin typeface="Manrope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623" marR="10862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lvl="0" indent="-342900" algn="l" defTabSz="3275929" rtl="0" eaLnBrk="1" latinLnBrk="0" hangingPunct="1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Manrope" pitchFamily="2" charset="0"/>
                          <a:ea typeface="+mn-ea"/>
                          <a:cs typeface="+mn-cs"/>
                        </a:rPr>
                        <a:t>значительный прирост населения</a:t>
                      </a:r>
                    </a:p>
                    <a:p>
                      <a:pPr marL="342900" lvl="0" indent="-342900" algn="l" defTabSz="3275929" rtl="0" eaLnBrk="1" latinLnBrk="0" hangingPunct="1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Manrope" pitchFamily="2" charset="0"/>
                          <a:ea typeface="+mn-ea"/>
                          <a:cs typeface="+mn-cs"/>
                        </a:rPr>
                        <a:t>быстрое изменение  соотношения функциональных зон</a:t>
                      </a:r>
                    </a:p>
                    <a:p>
                      <a:pPr marL="342900" lvl="0" indent="-342900" algn="l" defTabSz="3275929" rtl="0" eaLnBrk="1" latinLnBrk="0" hangingPunct="1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Manrope" pitchFamily="2" charset="0"/>
                          <a:ea typeface="+mn-ea"/>
                          <a:cs typeface="+mn-cs"/>
                        </a:rPr>
                        <a:t>хорошая транспортная связность с ядром</a:t>
                      </a:r>
                    </a:p>
                  </a:txBody>
                  <a:tcPr marL="108623" marR="10862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531107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</a:pPr>
                      <a:r>
                        <a:rPr lang="ru-RU" sz="2000" dirty="0">
                          <a:effectLst/>
                          <a:latin typeface="Manrope" pitchFamily="2" charset="0"/>
                        </a:rPr>
                        <a:t>города-спутники</a:t>
                      </a:r>
                      <a:endParaRPr lang="ru-RU" sz="2000" i="1" dirty="0">
                        <a:solidFill>
                          <a:srgbClr val="1F497D"/>
                        </a:solidFill>
                        <a:effectLst/>
                        <a:latin typeface="Manrope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623" marR="10862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lvl="0" indent="-342900" algn="l" defTabSz="3275929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Manrope" pitchFamily="2" charset="0"/>
                          <a:ea typeface="+mn-ea"/>
                          <a:cs typeface="+mn-cs"/>
                        </a:rPr>
                        <a:t>численность населения более 1% ядра,</a:t>
                      </a:r>
                    </a:p>
                    <a:p>
                      <a:pPr marL="342900" lvl="0" indent="-342900" algn="l" defTabSz="3275929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Manrope" pitchFamily="2" charset="0"/>
                          <a:ea typeface="+mn-ea"/>
                          <a:cs typeface="+mn-cs"/>
                        </a:rPr>
                        <a:t>хорошая либо умеренная связность с ядром</a:t>
                      </a:r>
                    </a:p>
                    <a:p>
                      <a:pPr marL="342900" lvl="0" indent="-342900" algn="l" defTabSz="3275929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Manrope" pitchFamily="2" charset="0"/>
                          <a:ea typeface="+mn-ea"/>
                          <a:cs typeface="+mn-cs"/>
                        </a:rPr>
                        <a:t>медленное либо умеренное изменение соотношения функциональных зон</a:t>
                      </a:r>
                    </a:p>
                    <a:p>
                      <a:pPr marL="342900" lvl="0" indent="-342900" algn="l" defTabSz="3275929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Manrope" pitchFamily="2" charset="0"/>
                          <a:ea typeface="+mn-ea"/>
                          <a:cs typeface="+mn-cs"/>
                        </a:rPr>
                        <a:t>умеренный  либо незначительный прирост населения</a:t>
                      </a:r>
                    </a:p>
                  </a:txBody>
                  <a:tcPr marL="108623" marR="10862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237257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</a:pPr>
                      <a:r>
                        <a:rPr lang="ru-RU" sz="2000" dirty="0">
                          <a:effectLst/>
                          <a:latin typeface="Manrope" pitchFamily="2" charset="0"/>
                        </a:rPr>
                        <a:t>урбанизированная зона</a:t>
                      </a:r>
                      <a:endParaRPr lang="ru-RU" sz="2000" i="1" dirty="0">
                        <a:solidFill>
                          <a:srgbClr val="1F497D"/>
                        </a:solidFill>
                        <a:effectLst/>
                        <a:latin typeface="Manrope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623" marR="10862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lvl="0" indent="-342900" algn="l" defTabSz="3275929" rtl="0" eaLnBrk="1" latinLnBrk="0" hangingPunct="1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Manrope" pitchFamily="2" charset="0"/>
                          <a:ea typeface="+mn-ea"/>
                          <a:cs typeface="+mn-cs"/>
                        </a:rPr>
                        <a:t>умеренное изменение соотношения функциональных зон при незначительном приросте населения</a:t>
                      </a:r>
                    </a:p>
                    <a:p>
                      <a:pPr marL="342900" lvl="0" indent="-342900" algn="l" defTabSz="3275929" rtl="0" eaLnBrk="1" latinLnBrk="0" hangingPunct="1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Manrope" pitchFamily="2" charset="0"/>
                          <a:ea typeface="+mn-ea"/>
                          <a:cs typeface="+mn-cs"/>
                        </a:rPr>
                        <a:t>умеренный прирост населения при незначительном изменении состава функциональных зон</a:t>
                      </a:r>
                    </a:p>
                  </a:txBody>
                  <a:tcPr marL="108623" marR="10862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206861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</a:pPr>
                      <a:r>
                        <a:rPr lang="ru-RU" sz="2000">
                          <a:effectLst/>
                          <a:latin typeface="Manrope" pitchFamily="2" charset="0"/>
                        </a:rPr>
                        <a:t>малоурбанизированная зона</a:t>
                      </a:r>
                      <a:endParaRPr lang="ru-RU" sz="2000" i="1">
                        <a:solidFill>
                          <a:srgbClr val="1F497D"/>
                        </a:solidFill>
                        <a:effectLst/>
                        <a:latin typeface="Manrope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623" marR="10862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lvl="0" indent="-342900" algn="l" defTabSz="3275929" rtl="0" eaLnBrk="1" latinLnBrk="0" hangingPunct="1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Manrope" pitchFamily="2" charset="0"/>
                          <a:ea typeface="+mn-ea"/>
                          <a:cs typeface="+mn-cs"/>
                        </a:rPr>
                        <a:t>численность населения больше 0,1% ядра</a:t>
                      </a:r>
                    </a:p>
                    <a:p>
                      <a:pPr marL="342900" lvl="0" indent="-342900" algn="l" defTabSz="3275929" rtl="0" eaLnBrk="1" latinLnBrk="0" hangingPunct="1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Manrope" pitchFamily="2" charset="0"/>
                          <a:ea typeface="+mn-ea"/>
                          <a:cs typeface="+mn-cs"/>
                        </a:rPr>
                        <a:t>незначительный прирост населения при незначительном изменении состава функциональных зон</a:t>
                      </a:r>
                    </a:p>
                  </a:txBody>
                  <a:tcPr marL="108623" marR="10862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634172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</a:pPr>
                      <a:r>
                        <a:rPr lang="ru-RU" sz="2000">
                          <a:effectLst/>
                          <a:latin typeface="Manrope" pitchFamily="2" charset="0"/>
                        </a:rPr>
                        <a:t>зона природного каркаса</a:t>
                      </a:r>
                      <a:endParaRPr lang="ru-RU" sz="2000" i="1">
                        <a:solidFill>
                          <a:srgbClr val="1F497D"/>
                        </a:solidFill>
                        <a:effectLst/>
                        <a:latin typeface="Manrope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623" marR="10862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lvl="0" indent="-342900" algn="l" defTabSz="3275929" rtl="0" eaLnBrk="1" latinLnBrk="0" hangingPunct="1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Manrope" pitchFamily="2" charset="0"/>
                          <a:ea typeface="+mn-ea"/>
                          <a:cs typeface="+mn-cs"/>
                        </a:rPr>
                        <a:t>численность населения меньше 0,1% ядра</a:t>
                      </a:r>
                    </a:p>
                    <a:p>
                      <a:pPr marL="342900" lvl="0" indent="-342900" algn="l" defTabSz="3275929" rtl="0" eaLnBrk="1" latinLnBrk="0" hangingPunct="1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Manrope" pitchFamily="2" charset="0"/>
                          <a:ea typeface="+mn-ea"/>
                          <a:cs typeface="+mn-cs"/>
                        </a:rPr>
                        <a:t>большая часть функциональных зон – леса </a:t>
                      </a:r>
                    </a:p>
                  </a:txBody>
                  <a:tcPr marL="108623" marR="10862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921114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</a:pPr>
                      <a:r>
                        <a:rPr lang="ru-RU" sz="2000" dirty="0">
                          <a:effectLst/>
                          <a:latin typeface="Manrope" pitchFamily="2" charset="0"/>
                        </a:rPr>
                        <a:t>город вне агломерации</a:t>
                      </a:r>
                      <a:endParaRPr lang="ru-RU" sz="2000" i="1" dirty="0">
                        <a:solidFill>
                          <a:srgbClr val="1F497D"/>
                        </a:solidFill>
                        <a:effectLst/>
                        <a:latin typeface="Manrope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623" marR="10862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lvl="0" indent="-342900" algn="l" defTabSz="3275929" rtl="0" eaLnBrk="1" latinLnBrk="0" hangingPunct="1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Manrope" pitchFamily="2" charset="0"/>
                          <a:ea typeface="+mn-ea"/>
                          <a:cs typeface="+mn-cs"/>
                        </a:rPr>
                        <a:t>низкое влияние ядра,</a:t>
                      </a:r>
                    </a:p>
                    <a:p>
                      <a:pPr marL="342900" lvl="0" indent="-342900" algn="l" defTabSz="3275929" rtl="0" eaLnBrk="1" latinLnBrk="0" hangingPunct="1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Manrope" pitchFamily="2" charset="0"/>
                          <a:ea typeface="+mn-ea"/>
                          <a:cs typeface="+mn-cs"/>
                        </a:rPr>
                        <a:t>низкая оценка по транспортному аспекту,</a:t>
                      </a:r>
                    </a:p>
                    <a:p>
                      <a:pPr marL="342900" lvl="0" indent="-342900" algn="l" defTabSz="3275929" rtl="0" eaLnBrk="1" latinLnBrk="0" hangingPunct="1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Manrope" pitchFamily="2" charset="0"/>
                          <a:ea typeface="+mn-ea"/>
                          <a:cs typeface="+mn-cs"/>
                        </a:rPr>
                        <a:t>численность населения более 1% от населения ядра</a:t>
                      </a:r>
                    </a:p>
                  </a:txBody>
                  <a:tcPr marL="108623" marR="10862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209461"/>
                  </a:ext>
                </a:extLst>
              </a:tr>
            </a:tbl>
          </a:graphicData>
        </a:graphic>
      </p:graphicFrame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41E86ED0-A43C-435F-8117-01C6F0D72088}"/>
              </a:ext>
            </a:extLst>
          </p:cNvPr>
          <p:cNvGrpSpPr/>
          <p:nvPr/>
        </p:nvGrpSpPr>
        <p:grpSpPr>
          <a:xfrm>
            <a:off x="1019795" y="14455959"/>
            <a:ext cx="8605985" cy="8187905"/>
            <a:chOff x="1019795" y="14226611"/>
            <a:chExt cx="9711176" cy="10637578"/>
          </a:xfrm>
        </p:grpSpPr>
        <p:sp>
          <p:nvSpPr>
            <p:cNvPr id="201" name="Прямоугольник: скругленные углы 200">
              <a:extLst>
                <a:ext uri="{FF2B5EF4-FFF2-40B4-BE49-F238E27FC236}">
                  <a16:creationId xmlns:a16="http://schemas.microsoft.com/office/drawing/2014/main" id="{E6814B67-83EB-4A22-A44B-17A50AE02E2D}"/>
                </a:ext>
              </a:extLst>
            </p:cNvPr>
            <p:cNvSpPr/>
            <p:nvPr/>
          </p:nvSpPr>
          <p:spPr>
            <a:xfrm>
              <a:off x="2549668" y="18190307"/>
              <a:ext cx="8181303" cy="1301754"/>
            </a:xfrm>
            <a:prstGeom prst="roundRect">
              <a:avLst/>
            </a:prstGeom>
            <a:solidFill>
              <a:srgbClr val="ED2F2F">
                <a:alpha val="60000"/>
              </a:srgb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ЗОНА ВЛИЯНИЯ ЯДРА</a:t>
              </a:r>
            </a:p>
          </p:txBody>
        </p:sp>
        <p:sp>
          <p:nvSpPr>
            <p:cNvPr id="111" name="Прямоугольник: скругленные углы 110">
              <a:extLst>
                <a:ext uri="{FF2B5EF4-FFF2-40B4-BE49-F238E27FC236}">
                  <a16:creationId xmlns:a16="http://schemas.microsoft.com/office/drawing/2014/main" id="{EEBAA930-EB91-468B-9A30-2D4C75D75262}"/>
                </a:ext>
              </a:extLst>
            </p:cNvPr>
            <p:cNvSpPr/>
            <p:nvPr/>
          </p:nvSpPr>
          <p:spPr>
            <a:xfrm>
              <a:off x="2530737" y="14226611"/>
              <a:ext cx="8181303" cy="130175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80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АГЛОМЕРАЦИЯ</a:t>
              </a:r>
            </a:p>
          </p:txBody>
        </p:sp>
        <p:sp>
          <p:nvSpPr>
            <p:cNvPr id="112" name="Прямоугольник: скругленные углы 111">
              <a:extLst>
                <a:ext uri="{FF2B5EF4-FFF2-40B4-BE49-F238E27FC236}">
                  <a16:creationId xmlns:a16="http://schemas.microsoft.com/office/drawing/2014/main" id="{1ABCABF2-51BA-4FDC-9178-49ACECDC7CE7}"/>
                </a:ext>
              </a:extLst>
            </p:cNvPr>
            <p:cNvSpPr/>
            <p:nvPr/>
          </p:nvSpPr>
          <p:spPr>
            <a:xfrm>
              <a:off x="2530737" y="16372651"/>
              <a:ext cx="8181303" cy="1301754"/>
            </a:xfrm>
            <a:prstGeom prst="roundRect">
              <a:avLst/>
            </a:prstGeom>
            <a:solidFill>
              <a:srgbClr val="CE3208">
                <a:alpha val="70000"/>
              </a:srgb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ЯДРО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5A429533-78DD-4BEA-9C49-F13DE5CDD138}"/>
                </a:ext>
              </a:extLst>
            </p:cNvPr>
            <p:cNvSpPr txBox="1"/>
            <p:nvPr/>
          </p:nvSpPr>
          <p:spPr>
            <a:xfrm>
              <a:off x="2530737" y="15682299"/>
              <a:ext cx="8181303" cy="679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800" dirty="0">
                  <a:latin typeface="Montserrat SemiBold" pitchFamily="2" charset="-52"/>
                </a:rPr>
                <a:t>=</a:t>
              </a:r>
            </a:p>
          </p:txBody>
        </p:sp>
        <p:sp>
          <p:nvSpPr>
            <p:cNvPr id="114" name="Прямоугольник: скругленные углы 113">
              <a:extLst>
                <a:ext uri="{FF2B5EF4-FFF2-40B4-BE49-F238E27FC236}">
                  <a16:creationId xmlns:a16="http://schemas.microsoft.com/office/drawing/2014/main" id="{1FB3D396-6A62-45AB-A24C-C3D486C41ECC}"/>
                </a:ext>
              </a:extLst>
            </p:cNvPr>
            <p:cNvSpPr/>
            <p:nvPr/>
          </p:nvSpPr>
          <p:spPr>
            <a:xfrm>
              <a:off x="2528531" y="20005559"/>
              <a:ext cx="8174452" cy="1301754"/>
            </a:xfrm>
            <a:prstGeom prst="roundRect">
              <a:avLst/>
            </a:prstGeom>
            <a:solidFill>
              <a:srgbClr val="7030A0">
                <a:alpha val="50000"/>
              </a:srgb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ГОРОДА-СПУТНИКИ </a:t>
              </a:r>
            </a:p>
          </p:txBody>
        </p:sp>
        <p:sp>
          <p:nvSpPr>
            <p:cNvPr id="116" name="Прямоугольник: скругленные углы 115">
              <a:extLst>
                <a:ext uri="{FF2B5EF4-FFF2-40B4-BE49-F238E27FC236}">
                  <a16:creationId xmlns:a16="http://schemas.microsoft.com/office/drawing/2014/main" id="{C47D66F3-F5E2-4266-A4AE-2817885E977E}"/>
                </a:ext>
              </a:extLst>
            </p:cNvPr>
            <p:cNvSpPr/>
            <p:nvPr/>
          </p:nvSpPr>
          <p:spPr>
            <a:xfrm>
              <a:off x="2524796" y="21803868"/>
              <a:ext cx="8181303" cy="1301754"/>
            </a:xfrm>
            <a:prstGeom prst="roundRect">
              <a:avLst/>
            </a:prstGeom>
            <a:pattFill prst="wdUpDiag">
              <a:fgClr>
                <a:srgbClr val="FFD966"/>
              </a:fgClr>
              <a:bgClr>
                <a:srgbClr val="FFF2CC"/>
              </a:bgClr>
            </a:patt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УРБАНИЗИРОВАННЫЕ И МАЛОУРБАНИЗИВРОВАННЫЕ ЗОНЫ 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28A7C425-BD69-41C6-AC0E-E7028802607F}"/>
                </a:ext>
              </a:extLst>
            </p:cNvPr>
            <p:cNvSpPr txBox="1"/>
            <p:nvPr/>
          </p:nvSpPr>
          <p:spPr>
            <a:xfrm>
              <a:off x="2524796" y="19467420"/>
              <a:ext cx="8181303" cy="679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800" dirty="0">
                  <a:latin typeface="Montserrat SemiBold" pitchFamily="2" charset="-52"/>
                </a:rPr>
                <a:t>+</a:t>
              </a:r>
            </a:p>
          </p:txBody>
        </p:sp>
        <p:sp>
          <p:nvSpPr>
            <p:cNvPr id="118" name="Прямоугольник: скругленные углы 117">
              <a:extLst>
                <a:ext uri="{FF2B5EF4-FFF2-40B4-BE49-F238E27FC236}">
                  <a16:creationId xmlns:a16="http://schemas.microsoft.com/office/drawing/2014/main" id="{EB6591AB-5189-4700-850A-536ABCD200B7}"/>
                </a:ext>
              </a:extLst>
            </p:cNvPr>
            <p:cNvSpPr/>
            <p:nvPr/>
          </p:nvSpPr>
          <p:spPr>
            <a:xfrm>
              <a:off x="2530737" y="23562435"/>
              <a:ext cx="8181303" cy="1301754"/>
            </a:xfrm>
            <a:prstGeom prst="roundRect">
              <a:avLst/>
            </a:prstGeom>
            <a:solidFill>
              <a:srgbClr val="548235">
                <a:alpha val="60000"/>
              </a:srgb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ru-RU" sz="28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ЗОНЫ ПРИРОДНОГО КАРКАСА 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153855D8-0171-4C37-9E0B-0757E2154C1B}"/>
                </a:ext>
              </a:extLst>
            </p:cNvPr>
            <p:cNvSpPr txBox="1"/>
            <p:nvPr/>
          </p:nvSpPr>
          <p:spPr>
            <a:xfrm>
              <a:off x="2521680" y="23063064"/>
              <a:ext cx="8181303" cy="679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800" dirty="0">
                  <a:latin typeface="Montserrat SemiBold" pitchFamily="2" charset="-52"/>
                </a:rPr>
                <a:t>+</a:t>
              </a:r>
            </a:p>
          </p:txBody>
        </p:sp>
        <p:sp>
          <p:nvSpPr>
            <p:cNvPr id="40" name="Левая фигурная скобка 39">
              <a:extLst>
                <a:ext uri="{FF2B5EF4-FFF2-40B4-BE49-F238E27FC236}">
                  <a16:creationId xmlns:a16="http://schemas.microsoft.com/office/drawing/2014/main" id="{143870D3-19E8-4BE2-A221-806472E1BD98}"/>
                </a:ext>
              </a:extLst>
            </p:cNvPr>
            <p:cNvSpPr/>
            <p:nvPr/>
          </p:nvSpPr>
          <p:spPr>
            <a:xfrm>
              <a:off x="1862254" y="16372651"/>
              <a:ext cx="547515" cy="8491538"/>
            </a:xfrm>
            <a:prstGeom prst="leftBrac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sz="2800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071893AF-AD0D-4391-9F07-12BF4CD2D106}"/>
                </a:ext>
              </a:extLst>
            </p:cNvPr>
            <p:cNvSpPr txBox="1"/>
            <p:nvPr/>
          </p:nvSpPr>
          <p:spPr>
            <a:xfrm rot="16200000">
              <a:off x="-2972624" y="20259493"/>
              <a:ext cx="85696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800" dirty="0">
                  <a:latin typeface="Manrope" pitchFamily="2" charset="0"/>
                </a:rPr>
                <a:t>Структурные элементы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30E9E113-C43A-4D33-A1FE-6740E2554503}"/>
                </a:ext>
              </a:extLst>
            </p:cNvPr>
            <p:cNvSpPr txBox="1"/>
            <p:nvPr/>
          </p:nvSpPr>
          <p:spPr>
            <a:xfrm>
              <a:off x="2546698" y="17659556"/>
              <a:ext cx="8181303" cy="679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800" dirty="0">
                  <a:latin typeface="Montserrat SemiBold" pitchFamily="2" charset="-52"/>
                </a:rPr>
                <a:t>+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44922BC1-0C2A-4572-8D03-9514071C8B30}"/>
                </a:ext>
              </a:extLst>
            </p:cNvPr>
            <p:cNvSpPr txBox="1"/>
            <p:nvPr/>
          </p:nvSpPr>
          <p:spPr>
            <a:xfrm>
              <a:off x="2523777" y="21281245"/>
              <a:ext cx="8181303" cy="679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800" dirty="0">
                  <a:latin typeface="Montserrat SemiBold" pitchFamily="2" charset="-52"/>
                </a:rPr>
                <a:t>+</a:t>
              </a:r>
            </a:p>
          </p:txBody>
        </p:sp>
      </p:grpSp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85162BB3-00FB-4D15-BEA5-E94088C29DF6}"/>
              </a:ext>
            </a:extLst>
          </p:cNvPr>
          <p:cNvPicPr>
            <a:picLocks/>
          </p:cNvPicPr>
          <p:nvPr/>
        </p:nvPicPr>
        <p:blipFill rotWithShape="1">
          <a:blip r:embed="rId133"/>
          <a:srcRect b="707"/>
          <a:stretch/>
        </p:blipFill>
        <p:spPr>
          <a:xfrm>
            <a:off x="8884990" y="36023208"/>
            <a:ext cx="6120000" cy="7200000"/>
          </a:xfrm>
          <a:prstGeom prst="rect">
            <a:avLst/>
          </a:prstGeom>
          <a:ln w="38100">
            <a:solidFill>
              <a:schemeClr val="bg2">
                <a:lumMod val="50000"/>
              </a:schemeClr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F119122C-1760-45DB-8095-74A3439CC53F}"/>
                  </a:ext>
                </a:extLst>
              </p:cNvPr>
              <p:cNvSpPr txBox="1"/>
              <p:nvPr/>
            </p:nvSpPr>
            <p:spPr>
              <a:xfrm>
                <a:off x="26130141" y="29235885"/>
                <a:ext cx="458498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ru-RU" sz="3200" dirty="0">
                  <a:latin typeface="Manrope" pitchFamily="2" charset="0"/>
                </a:endParaRPr>
              </a:p>
            </p:txBody>
          </p:sp>
        </mc:Choice>
        <mc:Fallback xmlns="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F119122C-1760-45DB-8095-74A3439CC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0141" y="29235885"/>
                <a:ext cx="4584989" cy="492443"/>
              </a:xfrm>
              <a:prstGeom prst="rect">
                <a:avLst/>
              </a:prstGeom>
              <a:blipFill>
                <a:blip r:embed="rId1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5" name="Таблица 23">
            <a:extLst>
              <a:ext uri="{FF2B5EF4-FFF2-40B4-BE49-F238E27FC236}">
                <a16:creationId xmlns:a16="http://schemas.microsoft.com/office/drawing/2014/main" id="{5B53CA9A-E796-4CAA-88BC-2ADB2417D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469300"/>
              </p:ext>
            </p:extLst>
          </p:nvPr>
        </p:nvGraphicFramePr>
        <p:xfrm>
          <a:off x="10031076" y="15956956"/>
          <a:ext cx="7244146" cy="6686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242">
                  <a:extLst>
                    <a:ext uri="{9D8B030D-6E8A-4147-A177-3AD203B41FA5}">
                      <a16:colId xmlns:a16="http://schemas.microsoft.com/office/drawing/2014/main" val="745242695"/>
                    </a:ext>
                  </a:extLst>
                </a:gridCol>
                <a:gridCol w="557242">
                  <a:extLst>
                    <a:ext uri="{9D8B030D-6E8A-4147-A177-3AD203B41FA5}">
                      <a16:colId xmlns:a16="http://schemas.microsoft.com/office/drawing/2014/main" val="2947664240"/>
                    </a:ext>
                  </a:extLst>
                </a:gridCol>
                <a:gridCol w="557242">
                  <a:extLst>
                    <a:ext uri="{9D8B030D-6E8A-4147-A177-3AD203B41FA5}">
                      <a16:colId xmlns:a16="http://schemas.microsoft.com/office/drawing/2014/main" val="751602414"/>
                    </a:ext>
                  </a:extLst>
                </a:gridCol>
                <a:gridCol w="557242">
                  <a:extLst>
                    <a:ext uri="{9D8B030D-6E8A-4147-A177-3AD203B41FA5}">
                      <a16:colId xmlns:a16="http://schemas.microsoft.com/office/drawing/2014/main" val="4089380319"/>
                    </a:ext>
                  </a:extLst>
                </a:gridCol>
                <a:gridCol w="557242">
                  <a:extLst>
                    <a:ext uri="{9D8B030D-6E8A-4147-A177-3AD203B41FA5}">
                      <a16:colId xmlns:a16="http://schemas.microsoft.com/office/drawing/2014/main" val="3661011142"/>
                    </a:ext>
                  </a:extLst>
                </a:gridCol>
                <a:gridCol w="557242">
                  <a:extLst>
                    <a:ext uri="{9D8B030D-6E8A-4147-A177-3AD203B41FA5}">
                      <a16:colId xmlns:a16="http://schemas.microsoft.com/office/drawing/2014/main" val="328265974"/>
                    </a:ext>
                  </a:extLst>
                </a:gridCol>
                <a:gridCol w="557242">
                  <a:extLst>
                    <a:ext uri="{9D8B030D-6E8A-4147-A177-3AD203B41FA5}">
                      <a16:colId xmlns:a16="http://schemas.microsoft.com/office/drawing/2014/main" val="2538493809"/>
                    </a:ext>
                  </a:extLst>
                </a:gridCol>
                <a:gridCol w="557242">
                  <a:extLst>
                    <a:ext uri="{9D8B030D-6E8A-4147-A177-3AD203B41FA5}">
                      <a16:colId xmlns:a16="http://schemas.microsoft.com/office/drawing/2014/main" val="2210817498"/>
                    </a:ext>
                  </a:extLst>
                </a:gridCol>
                <a:gridCol w="557242">
                  <a:extLst>
                    <a:ext uri="{9D8B030D-6E8A-4147-A177-3AD203B41FA5}">
                      <a16:colId xmlns:a16="http://schemas.microsoft.com/office/drawing/2014/main" val="2892817332"/>
                    </a:ext>
                  </a:extLst>
                </a:gridCol>
                <a:gridCol w="557242">
                  <a:extLst>
                    <a:ext uri="{9D8B030D-6E8A-4147-A177-3AD203B41FA5}">
                      <a16:colId xmlns:a16="http://schemas.microsoft.com/office/drawing/2014/main" val="1199750696"/>
                    </a:ext>
                  </a:extLst>
                </a:gridCol>
                <a:gridCol w="557242">
                  <a:extLst>
                    <a:ext uri="{9D8B030D-6E8A-4147-A177-3AD203B41FA5}">
                      <a16:colId xmlns:a16="http://schemas.microsoft.com/office/drawing/2014/main" val="1283687218"/>
                    </a:ext>
                  </a:extLst>
                </a:gridCol>
                <a:gridCol w="557242">
                  <a:extLst>
                    <a:ext uri="{9D8B030D-6E8A-4147-A177-3AD203B41FA5}">
                      <a16:colId xmlns:a16="http://schemas.microsoft.com/office/drawing/2014/main" val="3497719839"/>
                    </a:ext>
                  </a:extLst>
                </a:gridCol>
                <a:gridCol w="557242">
                  <a:extLst>
                    <a:ext uri="{9D8B030D-6E8A-4147-A177-3AD203B41FA5}">
                      <a16:colId xmlns:a16="http://schemas.microsoft.com/office/drawing/2014/main" val="510373097"/>
                    </a:ext>
                  </a:extLst>
                </a:gridCol>
              </a:tblGrid>
              <a:tr h="557242"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514995"/>
                  </a:ext>
                </a:extLst>
              </a:tr>
              <a:tr h="557242"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36694"/>
                  </a:ext>
                </a:extLst>
              </a:tr>
              <a:tr h="557242"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7A77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7A77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008966"/>
                  </a:ext>
                </a:extLst>
              </a:tr>
              <a:tr h="557242"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7A77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7A77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753244"/>
                  </a:ext>
                </a:extLst>
              </a:tr>
              <a:tr h="557242"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2F2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2F2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888924"/>
                  </a:ext>
                </a:extLst>
              </a:tr>
              <a:tr h="557242"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2F2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6F5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6F5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6F5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6F5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10027"/>
                  </a:ext>
                </a:extLst>
              </a:tr>
              <a:tr h="557242"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6F5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6F5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6F5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6F5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275628"/>
                  </a:ext>
                </a:extLst>
              </a:tr>
              <a:tr h="557242"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6F5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6F5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6F5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6F5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292825"/>
                  </a:ext>
                </a:extLst>
              </a:tr>
              <a:tr h="557242"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6F5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6F5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6F5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6F5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045241"/>
                  </a:ext>
                </a:extLst>
              </a:tr>
              <a:tr h="557242"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2F2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2F2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2F2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116560"/>
                  </a:ext>
                </a:extLst>
              </a:tr>
              <a:tr h="557242"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991289"/>
                  </a:ext>
                </a:extLst>
              </a:tr>
              <a:tr h="557242"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4A57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4A57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4A57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4A57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01100" marR="101100" marT="50550" marB="50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092347"/>
                  </a:ext>
                </a:extLst>
              </a:tr>
            </a:tbl>
          </a:graphicData>
        </a:graphic>
      </p:graphicFrame>
      <p:sp>
        <p:nvSpPr>
          <p:cNvPr id="217" name="TextBox 216">
            <a:extLst>
              <a:ext uri="{FF2B5EF4-FFF2-40B4-BE49-F238E27FC236}">
                <a16:creationId xmlns:a16="http://schemas.microsoft.com/office/drawing/2014/main" id="{6E53B1A7-1510-49D8-B98B-9D27602695AE}"/>
              </a:ext>
            </a:extLst>
          </p:cNvPr>
          <p:cNvSpPr txBox="1"/>
          <p:nvPr/>
        </p:nvSpPr>
        <p:spPr>
          <a:xfrm>
            <a:off x="9218958" y="14673619"/>
            <a:ext cx="8947319" cy="1082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ru-RU" sz="3000" dirty="0">
                <a:latin typeface="Manrope" pitchFamily="2" charset="0"/>
              </a:rPr>
              <a:t>Схема расположения </a:t>
            </a:r>
            <a:br>
              <a:rPr lang="ru-RU" sz="3000" dirty="0">
                <a:latin typeface="Manrope" pitchFamily="2" charset="0"/>
              </a:rPr>
            </a:br>
            <a:r>
              <a:rPr lang="ru-RU" sz="3000" dirty="0">
                <a:latin typeface="Manrope" pitchFamily="2" charset="0"/>
              </a:rPr>
              <a:t>структурных элементов агломерации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D8A131FD-C446-4EAE-8233-2193161D6C58}"/>
              </a:ext>
            </a:extLst>
          </p:cNvPr>
          <p:cNvSpPr txBox="1"/>
          <p:nvPr/>
        </p:nvSpPr>
        <p:spPr>
          <a:xfrm>
            <a:off x="773573" y="8475404"/>
            <a:ext cx="15608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atin typeface="Montserrat SemiBold" pitchFamily="2" charset="-52"/>
              </a:rPr>
              <a:t>Актуальность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B3858AA3-7758-4DB8-88D1-E0EAE3CEB5A1}"/>
              </a:ext>
            </a:extLst>
          </p:cNvPr>
          <p:cNvSpPr txBox="1"/>
          <p:nvPr/>
        </p:nvSpPr>
        <p:spPr>
          <a:xfrm>
            <a:off x="16405993" y="8513192"/>
            <a:ext cx="15608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atin typeface="Montserrat SemiBold" pitchFamily="2" charset="-52"/>
              </a:rPr>
              <a:t>Проблема</a:t>
            </a:r>
          </a:p>
        </p:txBody>
      </p:sp>
      <p:sp>
        <p:nvSpPr>
          <p:cNvPr id="258" name="PlaceHolder 1">
            <a:extLst>
              <a:ext uri="{FF2B5EF4-FFF2-40B4-BE49-F238E27FC236}">
                <a16:creationId xmlns:a16="http://schemas.microsoft.com/office/drawing/2014/main" id="{19975946-E9FF-4544-837B-6126DDB31051}"/>
              </a:ext>
            </a:extLst>
          </p:cNvPr>
          <p:cNvSpPr txBox="1">
            <a:spLocks/>
          </p:cNvSpPr>
          <p:nvPr/>
        </p:nvSpPr>
        <p:spPr>
          <a:xfrm>
            <a:off x="24924774" y="30294996"/>
            <a:ext cx="6769663" cy="127024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tabLst>
                <a:tab pos="0" algn="l"/>
              </a:tabLst>
            </a:pPr>
            <a:r>
              <a:rPr lang="ru-RU" sz="2000" dirty="0">
                <a:effectLst/>
                <a:latin typeface="Manrope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Manrope" pitchFamily="2" charset="0"/>
                <a:ea typeface="Times New Roman" panose="02020603050405020304" pitchFamily="18" charset="0"/>
              </a:rPr>
              <a:t>T – </a:t>
            </a:r>
            <a:r>
              <a:rPr lang="ru-RU" sz="2000" dirty="0">
                <a:effectLst/>
                <a:latin typeface="Manrope" pitchFamily="2" charset="0"/>
                <a:ea typeface="Times New Roman" panose="02020603050405020304" pitchFamily="18" charset="0"/>
              </a:rPr>
              <a:t>оценка по транспортному аспекту,</a:t>
            </a:r>
          </a:p>
          <a:p>
            <a:pPr>
              <a:lnSpc>
                <a:spcPct val="100000"/>
              </a:lnSpc>
              <a:spcBef>
                <a:spcPts val="600"/>
              </a:spcBef>
              <a:tabLst>
                <a:tab pos="0" algn="l"/>
              </a:tabLst>
            </a:pPr>
            <a:r>
              <a:rPr lang="ru-RU" sz="2000" dirty="0">
                <a:effectLst/>
                <a:latin typeface="Manrope" pitchFamily="2" charset="0"/>
                <a:ea typeface="Times New Roman" panose="02020603050405020304" pitchFamily="18" charset="0"/>
              </a:rPr>
              <a:t>Р – оценка по демографическому аспекту,</a:t>
            </a:r>
          </a:p>
          <a:p>
            <a:pPr>
              <a:lnSpc>
                <a:spcPct val="100000"/>
              </a:lnSpc>
              <a:spcBef>
                <a:spcPts val="600"/>
              </a:spcBef>
              <a:tabLst>
                <a:tab pos="0" algn="l"/>
              </a:tabLst>
            </a:pPr>
            <a:r>
              <a:rPr lang="en-US" sz="2000" dirty="0">
                <a:latin typeface="Manrope" pitchFamily="2" charset="0"/>
                <a:ea typeface="Times New Roman" panose="02020603050405020304" pitchFamily="18" charset="0"/>
              </a:rPr>
              <a:t>D –</a:t>
            </a:r>
            <a:r>
              <a:rPr lang="ru-RU" sz="2000" dirty="0">
                <a:latin typeface="Manrope" pitchFamily="2" charset="0"/>
                <a:ea typeface="Times New Roman" panose="02020603050405020304" pitchFamily="18" charset="0"/>
              </a:rPr>
              <a:t> оценка по пространственному</a:t>
            </a:r>
            <a:endParaRPr lang="fr-FR" sz="2000" dirty="0">
              <a:solidFill>
                <a:schemeClr val="dk1"/>
              </a:solidFill>
              <a:latin typeface="Manrope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FF73498C-C2D2-4CA3-801C-2BC7D2A475DC}"/>
              </a:ext>
            </a:extLst>
          </p:cNvPr>
          <p:cNvSpPr txBox="1"/>
          <p:nvPr/>
        </p:nvSpPr>
        <p:spPr>
          <a:xfrm>
            <a:off x="582362" y="35157598"/>
            <a:ext cx="15358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atin typeface="Montserrat SemiBold" pitchFamily="2" charset="-52"/>
              </a:rPr>
              <a:t>Апробация на Санкт-Петербургской агломерации</a:t>
            </a:r>
          </a:p>
        </p:txBody>
      </p:sp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5829B744-3222-4713-A6E1-3E8B81D6546F}"/>
              </a:ext>
            </a:extLst>
          </p:cNvPr>
          <p:cNvPicPr>
            <a:picLocks/>
          </p:cNvPicPr>
          <p:nvPr/>
        </p:nvPicPr>
        <p:blipFill>
          <a:blip r:embed="rId135"/>
          <a:stretch>
            <a:fillRect/>
          </a:stretch>
        </p:blipFill>
        <p:spPr>
          <a:xfrm>
            <a:off x="1649892" y="35991524"/>
            <a:ext cx="6120000" cy="7200000"/>
          </a:xfrm>
          <a:prstGeom prst="rect">
            <a:avLst/>
          </a:prstGeom>
          <a:ln w="38100">
            <a:solidFill>
              <a:schemeClr val="bg2">
                <a:lumMod val="50000"/>
              </a:schemeClr>
            </a:solidFill>
          </a:ln>
        </p:spPr>
      </p:pic>
      <p:sp>
        <p:nvSpPr>
          <p:cNvPr id="262" name="TextBox 261">
            <a:extLst>
              <a:ext uri="{FF2B5EF4-FFF2-40B4-BE49-F238E27FC236}">
                <a16:creationId xmlns:a16="http://schemas.microsoft.com/office/drawing/2014/main" id="{C2D39873-A9F9-4275-A487-19CA36332D9B}"/>
              </a:ext>
            </a:extLst>
          </p:cNvPr>
          <p:cNvSpPr txBox="1"/>
          <p:nvPr/>
        </p:nvSpPr>
        <p:spPr>
          <a:xfrm>
            <a:off x="580168" y="43549914"/>
            <a:ext cx="153588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dirty="0">
                <a:latin typeface="Manrope" pitchFamily="2" charset="0"/>
              </a:rPr>
              <a:t>Каждому с</a:t>
            </a:r>
            <a:r>
              <a:rPr lang="ru-RU" sz="3000" b="0" kern="1200" dirty="0">
                <a:solidFill>
                  <a:schemeClr val="tx1"/>
                </a:solidFill>
                <a:latin typeface="Manrope" pitchFamily="2" charset="0"/>
                <a:ea typeface="+mn-ea"/>
                <a:cs typeface="+mn-cs"/>
              </a:rPr>
              <a:t>убъекту агломерации назначается тип структурного элемента</a:t>
            </a:r>
            <a:br>
              <a:rPr lang="ru-RU" sz="3000" b="0" kern="1200" dirty="0">
                <a:solidFill>
                  <a:schemeClr val="tx1"/>
                </a:solidFill>
                <a:latin typeface="Manrope" pitchFamily="2" charset="0"/>
                <a:ea typeface="+mn-ea"/>
                <a:cs typeface="+mn-cs"/>
              </a:rPr>
            </a:br>
            <a:r>
              <a:rPr lang="ru-RU" sz="3000" b="0" kern="1200" dirty="0">
                <a:solidFill>
                  <a:schemeClr val="tx1"/>
                </a:solidFill>
                <a:latin typeface="Manrope" pitchFamily="2" charset="0"/>
                <a:ea typeface="+mn-ea"/>
                <a:cs typeface="+mn-cs"/>
              </a:rPr>
              <a:t>в соответстви</a:t>
            </a:r>
            <a:r>
              <a:rPr lang="ru-RU" sz="3000" dirty="0">
                <a:latin typeface="Manrope" pitchFamily="2" charset="0"/>
              </a:rPr>
              <a:t>и с </a:t>
            </a:r>
            <a:r>
              <a:rPr lang="ru-RU" sz="3000" b="1" dirty="0">
                <a:latin typeface="Manrope" pitchFamily="2" charset="0"/>
              </a:rPr>
              <a:t>оценкой влияния ядра и признаками</a:t>
            </a:r>
            <a:r>
              <a:rPr lang="ru-RU" sz="3000" dirty="0">
                <a:latin typeface="Manrope" pitchFamily="2" charset="0"/>
              </a:rPr>
              <a:t>. Высокая оценка влияния ядра указывает на преобладание агломерационных процессов над внутригородскими в процессе пространственного развития</a:t>
            </a:r>
            <a:endParaRPr lang="ru-RU" sz="3000" b="0" kern="1200" dirty="0">
              <a:solidFill>
                <a:schemeClr val="tx1"/>
              </a:solidFill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324E906D-5E64-4BB0-9633-FEFF6268670F}"/>
              </a:ext>
            </a:extLst>
          </p:cNvPr>
          <p:cNvSpPr txBox="1"/>
          <p:nvPr/>
        </p:nvSpPr>
        <p:spPr>
          <a:xfrm>
            <a:off x="1678306" y="43188464"/>
            <a:ext cx="5985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0" kern="1200" dirty="0">
                <a:solidFill>
                  <a:schemeClr val="tx1"/>
                </a:solidFill>
                <a:latin typeface="Manrope" pitchFamily="2" charset="0"/>
                <a:ea typeface="+mn-ea"/>
                <a:cs typeface="+mn-cs"/>
              </a:rPr>
              <a:t>Ра</a:t>
            </a:r>
            <a:r>
              <a:rPr lang="ru-RU" sz="2000" dirty="0">
                <a:latin typeface="Manrope" pitchFamily="2" charset="0"/>
              </a:rPr>
              <a:t>спределение оценок </a:t>
            </a:r>
            <a:r>
              <a:rPr lang="en-US" sz="2000" dirty="0">
                <a:latin typeface="Manrope" pitchFamily="2" charset="0"/>
              </a:rPr>
              <a:t>R</a:t>
            </a:r>
            <a:endParaRPr lang="ru-RU" sz="2000" b="0" kern="1200" dirty="0">
              <a:solidFill>
                <a:schemeClr val="tx1"/>
              </a:solidFill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BFC2CCC6-D804-42C5-83DB-D09FDED4C2D0}"/>
              </a:ext>
            </a:extLst>
          </p:cNvPr>
          <p:cNvSpPr txBox="1"/>
          <p:nvPr/>
        </p:nvSpPr>
        <p:spPr>
          <a:xfrm>
            <a:off x="8884990" y="43174724"/>
            <a:ext cx="6268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Manrope" pitchFamily="2" charset="0"/>
              </a:rPr>
              <a:t>Структурные элементы агломерации.</a:t>
            </a:r>
            <a:endParaRPr lang="ru-RU" sz="2000" b="0" kern="1200" dirty="0">
              <a:solidFill>
                <a:schemeClr val="tx1"/>
              </a:solidFill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9A10ACB4-2BF7-4D06-A2E8-022EA1D409FC}"/>
              </a:ext>
            </a:extLst>
          </p:cNvPr>
          <p:cNvSpPr txBox="1"/>
          <p:nvPr/>
        </p:nvSpPr>
        <p:spPr>
          <a:xfrm>
            <a:off x="16709108" y="35192348"/>
            <a:ext cx="15372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atin typeface="Montserrat SemiBold" pitchFamily="2" charset="-52"/>
              </a:rPr>
              <a:t>Апробация на Санкт-Петербургской агломерации</a:t>
            </a:r>
          </a:p>
        </p:txBody>
      </p:sp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592C5655-1CC9-44F6-ACDF-984C7A83FBB8}"/>
              </a:ext>
            </a:extLst>
          </p:cNvPr>
          <p:cNvPicPr>
            <a:picLocks/>
          </p:cNvPicPr>
          <p:nvPr/>
        </p:nvPicPr>
        <p:blipFill>
          <a:blip r:embed="rId136"/>
          <a:stretch>
            <a:fillRect/>
          </a:stretch>
        </p:blipFill>
        <p:spPr>
          <a:xfrm>
            <a:off x="17273746" y="36013225"/>
            <a:ext cx="6120000" cy="7200000"/>
          </a:xfrm>
          <a:prstGeom prst="rect">
            <a:avLst/>
          </a:prstGeom>
          <a:ln w="38100">
            <a:solidFill>
              <a:schemeClr val="bg2">
                <a:lumMod val="50000"/>
              </a:schemeClr>
            </a:solidFill>
          </a:ln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741A92F7-79A9-40DE-B5B0-AD2D5C2E0671}"/>
              </a:ext>
            </a:extLst>
          </p:cNvPr>
          <p:cNvSpPr txBox="1"/>
          <p:nvPr/>
        </p:nvSpPr>
        <p:spPr>
          <a:xfrm>
            <a:off x="16695208" y="43550819"/>
            <a:ext cx="73341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Manrope" pitchFamily="2" charset="0"/>
              </a:rPr>
              <a:t>82% субъектов определены в соответствии  </a:t>
            </a:r>
            <a:endParaRPr lang="ru-RU" sz="3200" b="0" kern="1200" dirty="0">
              <a:solidFill>
                <a:schemeClr val="tx1"/>
              </a:solidFill>
              <a:latin typeface="Manrope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810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Рисунок 163">
            <a:extLst>
              <a:ext uri="{FF2B5EF4-FFF2-40B4-BE49-F238E27FC236}">
                <a16:creationId xmlns:a16="http://schemas.microsoft.com/office/drawing/2014/main" id="{E9A55C33-3EB9-48EC-BF69-1160408EA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0"/>
            <a:ext cx="32759650" cy="50038628"/>
          </a:xfrm>
          <a:prstGeom prst="rect">
            <a:avLst/>
          </a:prstGeom>
        </p:spPr>
      </p:pic>
      <p:sp>
        <p:nvSpPr>
          <p:cNvPr id="80" name="Прямоугольник: скругленные углы 79">
            <a:extLst>
              <a:ext uri="{FF2B5EF4-FFF2-40B4-BE49-F238E27FC236}">
                <a16:creationId xmlns:a16="http://schemas.microsoft.com/office/drawing/2014/main" id="{DA367EE2-5BA3-48CB-838A-7AAC61B4D8AB}"/>
              </a:ext>
            </a:extLst>
          </p:cNvPr>
          <p:cNvSpPr/>
          <p:nvPr/>
        </p:nvSpPr>
        <p:spPr>
          <a:xfrm>
            <a:off x="34515654" y="8734649"/>
            <a:ext cx="12600000" cy="900000"/>
          </a:xfrm>
          <a:prstGeom prst="roundRect">
            <a:avLst/>
          </a:prstGeom>
          <a:solidFill>
            <a:srgbClr val="C4D4E2"/>
          </a:solidFill>
          <a:ln w="12700">
            <a:solidFill>
              <a:srgbClr val="0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  <a:t>Постановка целей и задач Стратегии СЭР РФ</a:t>
            </a:r>
            <a:r>
              <a:rPr lang="ru-RU" sz="2000" baseline="30000" dirty="0">
                <a:solidFill>
                  <a:schemeClr val="tx1"/>
                </a:solidFill>
                <a:latin typeface="Manrope" pitchFamily="2" charset="0"/>
              </a:rPr>
              <a:t>1</a:t>
            </a:r>
            <a:endParaRPr lang="ru-RU" sz="2000" dirty="0">
              <a:solidFill>
                <a:schemeClr val="tx1"/>
              </a:solidFill>
              <a:latin typeface="Manrope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1" name="Прямоугольник: скругленные углы 80">
            <a:extLst>
              <a:ext uri="{FF2B5EF4-FFF2-40B4-BE49-F238E27FC236}">
                <a16:creationId xmlns:a16="http://schemas.microsoft.com/office/drawing/2014/main" id="{C61908E4-4B2D-41F8-90D9-BDC41CB5C755}"/>
              </a:ext>
            </a:extLst>
          </p:cNvPr>
          <p:cNvSpPr/>
          <p:nvPr/>
        </p:nvSpPr>
        <p:spPr>
          <a:xfrm>
            <a:off x="34515660" y="10169218"/>
            <a:ext cx="12600000" cy="900000"/>
          </a:xfrm>
          <a:prstGeom prst="roundRect">
            <a:avLst/>
          </a:prstGeom>
          <a:solidFill>
            <a:srgbClr val="C4D4E2"/>
          </a:solidFill>
          <a:ln w="12700">
            <a:solidFill>
              <a:srgbClr val="0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  <a:t>Постановка целей и задач для крупных агломераций</a:t>
            </a:r>
          </a:p>
        </p:txBody>
      </p:sp>
      <p:cxnSp>
        <p:nvCxnSpPr>
          <p:cNvPr id="82" name="Прямая со стрелкой 81">
            <a:extLst>
              <a:ext uri="{FF2B5EF4-FFF2-40B4-BE49-F238E27FC236}">
                <a16:creationId xmlns:a16="http://schemas.microsoft.com/office/drawing/2014/main" id="{0F651797-FA98-4154-B942-855931439535}"/>
              </a:ext>
            </a:extLst>
          </p:cNvPr>
          <p:cNvCxnSpPr>
            <a:cxnSpLocks/>
            <a:stCxn id="80" idx="2"/>
            <a:endCxn id="81" idx="0"/>
          </p:cNvCxnSpPr>
          <p:nvPr/>
        </p:nvCxnSpPr>
        <p:spPr>
          <a:xfrm>
            <a:off x="40815654" y="9634649"/>
            <a:ext cx="6" cy="534569"/>
          </a:xfrm>
          <a:prstGeom prst="straightConnector1">
            <a:avLst/>
          </a:prstGeom>
          <a:ln w="44450">
            <a:solidFill>
              <a:schemeClr val="tx1">
                <a:lumMod val="95000"/>
                <a:lumOff val="5000"/>
              </a:schemeClr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Прямоугольник: скругленные углы 82">
            <a:extLst>
              <a:ext uri="{FF2B5EF4-FFF2-40B4-BE49-F238E27FC236}">
                <a16:creationId xmlns:a16="http://schemas.microsoft.com/office/drawing/2014/main" id="{281A037B-47CE-4096-9CF4-65D9A255DCF5}"/>
              </a:ext>
            </a:extLst>
          </p:cNvPr>
          <p:cNvSpPr/>
          <p:nvPr/>
        </p:nvSpPr>
        <p:spPr>
          <a:xfrm>
            <a:off x="40812144" y="13325635"/>
            <a:ext cx="6133229" cy="90000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  <a:t>Определение структурных </a:t>
            </a:r>
            <a:br>
              <a:rPr lang="ru-RU" sz="2000" dirty="0">
                <a:solidFill>
                  <a:schemeClr val="tx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  <a:t>элементов агломерации</a:t>
            </a:r>
          </a:p>
        </p:txBody>
      </p:sp>
      <p:sp>
        <p:nvSpPr>
          <p:cNvPr id="84" name="Прямоугольник: скругленные углы 83">
            <a:extLst>
              <a:ext uri="{FF2B5EF4-FFF2-40B4-BE49-F238E27FC236}">
                <a16:creationId xmlns:a16="http://schemas.microsoft.com/office/drawing/2014/main" id="{302BC546-BD53-4345-A6C5-F2F0FBBB274F}"/>
              </a:ext>
            </a:extLst>
          </p:cNvPr>
          <p:cNvSpPr/>
          <p:nvPr/>
        </p:nvSpPr>
        <p:spPr>
          <a:xfrm>
            <a:off x="34515654" y="13325636"/>
            <a:ext cx="6093262" cy="900000"/>
          </a:xfrm>
          <a:prstGeom prst="roundRect">
            <a:avLst/>
          </a:prstGeom>
          <a:solidFill>
            <a:srgbClr val="C4D4E2"/>
          </a:solidFill>
          <a:ln w="12700">
            <a:solidFill>
              <a:srgbClr val="0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  <a:t>Постановка целей и задач</a:t>
            </a:r>
            <a:br>
              <a:rPr lang="ru-RU" sz="2000" dirty="0">
                <a:solidFill>
                  <a:schemeClr val="tx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  <a:t>для всей агломерации </a:t>
            </a:r>
          </a:p>
        </p:txBody>
      </p:sp>
      <p:sp>
        <p:nvSpPr>
          <p:cNvPr id="85" name="Прямоугольник: скругленные углы 84">
            <a:extLst>
              <a:ext uri="{FF2B5EF4-FFF2-40B4-BE49-F238E27FC236}">
                <a16:creationId xmlns:a16="http://schemas.microsoft.com/office/drawing/2014/main" id="{AA7C434A-5C29-4969-BDCA-E921C856E732}"/>
              </a:ext>
            </a:extLst>
          </p:cNvPr>
          <p:cNvSpPr/>
          <p:nvPr/>
        </p:nvSpPr>
        <p:spPr>
          <a:xfrm>
            <a:off x="34515670" y="11544540"/>
            <a:ext cx="12600000" cy="900000"/>
          </a:xfrm>
          <a:prstGeom prst="roundRect">
            <a:avLst/>
          </a:prstGeom>
          <a:solidFill>
            <a:srgbClr val="C4D4E2"/>
          </a:solidFill>
          <a:ln w="12700">
            <a:solidFill>
              <a:srgbClr val="0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концепции пространственного развития конкретной агломерации</a:t>
            </a:r>
          </a:p>
        </p:txBody>
      </p:sp>
      <p:cxnSp>
        <p:nvCxnSpPr>
          <p:cNvPr id="86" name="Прямая со стрелкой 85">
            <a:extLst>
              <a:ext uri="{FF2B5EF4-FFF2-40B4-BE49-F238E27FC236}">
                <a16:creationId xmlns:a16="http://schemas.microsoft.com/office/drawing/2014/main" id="{A16148EC-4BBF-4E34-B3BE-A5F082C5D403}"/>
              </a:ext>
            </a:extLst>
          </p:cNvPr>
          <p:cNvCxnSpPr>
            <a:cxnSpLocks/>
            <a:stCxn id="81" idx="2"/>
            <a:endCxn id="85" idx="0"/>
          </p:cNvCxnSpPr>
          <p:nvPr/>
        </p:nvCxnSpPr>
        <p:spPr>
          <a:xfrm>
            <a:off x="40815660" y="11069218"/>
            <a:ext cx="10" cy="475322"/>
          </a:xfrm>
          <a:prstGeom prst="straightConnector1">
            <a:avLst/>
          </a:prstGeom>
          <a:ln w="44450">
            <a:solidFill>
              <a:schemeClr val="tx1">
                <a:lumMod val="95000"/>
                <a:lumOff val="5000"/>
              </a:schemeClr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Прямоугольник: скругленные углы 86">
            <a:extLst>
              <a:ext uri="{FF2B5EF4-FFF2-40B4-BE49-F238E27FC236}">
                <a16:creationId xmlns:a16="http://schemas.microsoft.com/office/drawing/2014/main" id="{DFE49D7F-FFA3-445E-A342-8D3ED58018C6}"/>
              </a:ext>
            </a:extLst>
          </p:cNvPr>
          <p:cNvSpPr/>
          <p:nvPr/>
        </p:nvSpPr>
        <p:spPr>
          <a:xfrm>
            <a:off x="34515670" y="15339976"/>
            <a:ext cx="12600000" cy="900000"/>
          </a:xfrm>
          <a:prstGeom prst="roundRect">
            <a:avLst/>
          </a:prstGeom>
          <a:solidFill>
            <a:srgbClr val="C4D4E2"/>
          </a:solidFill>
          <a:ln w="12700">
            <a:solidFill>
              <a:srgbClr val="0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  <a:t>Выводы и рекомендации </a:t>
            </a:r>
            <a:br>
              <a:rPr lang="ru-RU" sz="2000" dirty="0">
                <a:solidFill>
                  <a:schemeClr val="tx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  <a:t>по пространственному развитию субъектов агломерации </a:t>
            </a:r>
          </a:p>
        </p:txBody>
      </p:sp>
      <p:sp>
        <p:nvSpPr>
          <p:cNvPr id="88" name="Прямоугольник: скругленные углы 87">
            <a:extLst>
              <a:ext uri="{FF2B5EF4-FFF2-40B4-BE49-F238E27FC236}">
                <a16:creationId xmlns:a16="http://schemas.microsoft.com/office/drawing/2014/main" id="{10C8CEFA-BB4B-425F-A48C-7FF8ABE5FA9D}"/>
              </a:ext>
            </a:extLst>
          </p:cNvPr>
          <p:cNvSpPr/>
          <p:nvPr/>
        </p:nvSpPr>
        <p:spPr>
          <a:xfrm>
            <a:off x="34515668" y="17188368"/>
            <a:ext cx="12600000" cy="900000"/>
          </a:xfrm>
          <a:prstGeom prst="roundRect">
            <a:avLst/>
          </a:prstGeom>
          <a:solidFill>
            <a:srgbClr val="C4D4E2"/>
          </a:solidFill>
          <a:ln w="12700">
            <a:solidFill>
              <a:srgbClr val="0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документов территориального планирования</a:t>
            </a:r>
            <a:br>
              <a:rPr lang="ru-RU" sz="2000" dirty="0">
                <a:solidFill>
                  <a:schemeClr val="tx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2000" dirty="0">
                <a:solidFill>
                  <a:schemeClr val="tx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rPr>
              <a:t>субъектов агломерации </a:t>
            </a:r>
          </a:p>
        </p:txBody>
      </p:sp>
      <p:cxnSp>
        <p:nvCxnSpPr>
          <p:cNvPr id="89" name="Прямая со стрелкой 88">
            <a:extLst>
              <a:ext uri="{FF2B5EF4-FFF2-40B4-BE49-F238E27FC236}">
                <a16:creationId xmlns:a16="http://schemas.microsoft.com/office/drawing/2014/main" id="{2928031F-47DD-459D-B14D-FAA3D65F3876}"/>
              </a:ext>
            </a:extLst>
          </p:cNvPr>
          <p:cNvCxnSpPr>
            <a:cxnSpLocks/>
            <a:endCxn id="83" idx="0"/>
          </p:cNvCxnSpPr>
          <p:nvPr/>
        </p:nvCxnSpPr>
        <p:spPr>
          <a:xfrm>
            <a:off x="43878759" y="12529090"/>
            <a:ext cx="0" cy="796545"/>
          </a:xfrm>
          <a:prstGeom prst="straightConnector1">
            <a:avLst/>
          </a:prstGeom>
          <a:ln w="44450">
            <a:solidFill>
              <a:schemeClr val="tx1">
                <a:lumMod val="95000"/>
                <a:lumOff val="5000"/>
              </a:schemeClr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Прямая со стрелкой 89">
            <a:extLst>
              <a:ext uri="{FF2B5EF4-FFF2-40B4-BE49-F238E27FC236}">
                <a16:creationId xmlns:a16="http://schemas.microsoft.com/office/drawing/2014/main" id="{A68A6671-CEF0-46C4-8A47-DDFB643B32E8}"/>
              </a:ext>
            </a:extLst>
          </p:cNvPr>
          <p:cNvCxnSpPr>
            <a:cxnSpLocks/>
            <a:endCxn id="84" idx="0"/>
          </p:cNvCxnSpPr>
          <p:nvPr/>
        </p:nvCxnSpPr>
        <p:spPr>
          <a:xfrm>
            <a:off x="37562283" y="12529091"/>
            <a:ext cx="2" cy="796545"/>
          </a:xfrm>
          <a:prstGeom prst="straightConnector1">
            <a:avLst/>
          </a:prstGeom>
          <a:ln w="44450">
            <a:solidFill>
              <a:schemeClr val="tx1">
                <a:lumMod val="95000"/>
                <a:lumOff val="5000"/>
              </a:schemeClr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Соединитель: уступ 90">
            <a:extLst>
              <a:ext uri="{FF2B5EF4-FFF2-40B4-BE49-F238E27FC236}">
                <a16:creationId xmlns:a16="http://schemas.microsoft.com/office/drawing/2014/main" id="{014A9DA7-6F80-4799-9DF0-0974E5FCCE2E}"/>
              </a:ext>
            </a:extLst>
          </p:cNvPr>
          <p:cNvCxnSpPr>
            <a:cxnSpLocks/>
            <a:stCxn id="83" idx="2"/>
            <a:endCxn id="87" idx="0"/>
          </p:cNvCxnSpPr>
          <p:nvPr/>
        </p:nvCxnSpPr>
        <p:spPr>
          <a:xfrm rot="5400000">
            <a:off x="41790045" y="13251261"/>
            <a:ext cx="1114341" cy="3063089"/>
          </a:xfrm>
          <a:prstGeom prst="bentConnector3">
            <a:avLst>
              <a:gd name="adj1" fmla="val 50000"/>
            </a:avLst>
          </a:prstGeom>
          <a:ln w="44450">
            <a:solidFill>
              <a:schemeClr val="tx1">
                <a:lumMod val="95000"/>
                <a:lumOff val="5000"/>
              </a:schemeClr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Соединитель: уступ 91">
            <a:extLst>
              <a:ext uri="{FF2B5EF4-FFF2-40B4-BE49-F238E27FC236}">
                <a16:creationId xmlns:a16="http://schemas.microsoft.com/office/drawing/2014/main" id="{95DFFC9A-0B18-4902-A779-85A7BCE3604E}"/>
              </a:ext>
            </a:extLst>
          </p:cNvPr>
          <p:cNvCxnSpPr>
            <a:cxnSpLocks/>
            <a:stCxn id="84" idx="2"/>
            <a:endCxn id="87" idx="0"/>
          </p:cNvCxnSpPr>
          <p:nvPr/>
        </p:nvCxnSpPr>
        <p:spPr>
          <a:xfrm rot="16200000" flipH="1">
            <a:off x="38631807" y="13156113"/>
            <a:ext cx="1114340" cy="3253385"/>
          </a:xfrm>
          <a:prstGeom prst="bentConnector3">
            <a:avLst>
              <a:gd name="adj1" fmla="val 50000"/>
            </a:avLst>
          </a:prstGeom>
          <a:ln w="44450">
            <a:solidFill>
              <a:schemeClr val="tx1">
                <a:lumMod val="95000"/>
                <a:lumOff val="5000"/>
              </a:schemeClr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Прямая со стрелкой 92">
            <a:extLst>
              <a:ext uri="{FF2B5EF4-FFF2-40B4-BE49-F238E27FC236}">
                <a16:creationId xmlns:a16="http://schemas.microsoft.com/office/drawing/2014/main" id="{D226E8AF-C7FE-4E0A-925F-B054716C8E2E}"/>
              </a:ext>
            </a:extLst>
          </p:cNvPr>
          <p:cNvCxnSpPr>
            <a:cxnSpLocks/>
            <a:endCxn id="88" idx="0"/>
          </p:cNvCxnSpPr>
          <p:nvPr/>
        </p:nvCxnSpPr>
        <p:spPr>
          <a:xfrm>
            <a:off x="40815668" y="16288368"/>
            <a:ext cx="0" cy="900000"/>
          </a:xfrm>
          <a:prstGeom prst="straightConnector1">
            <a:avLst/>
          </a:prstGeom>
          <a:ln w="44450">
            <a:solidFill>
              <a:schemeClr val="tx1">
                <a:lumMod val="95000"/>
                <a:lumOff val="5000"/>
              </a:schemeClr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D3F21C4A-F613-4B2B-A0CF-77BE02488DA4}"/>
              </a:ext>
            </a:extLst>
          </p:cNvPr>
          <p:cNvGrpSpPr/>
          <p:nvPr/>
        </p:nvGrpSpPr>
        <p:grpSpPr>
          <a:xfrm>
            <a:off x="34383094" y="19295484"/>
            <a:ext cx="17479056" cy="9004818"/>
            <a:chOff x="6117497" y="21452569"/>
            <a:chExt cx="8551314" cy="4644789"/>
          </a:xfrm>
        </p:grpSpPr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A27BAD92-5A88-4EA7-BA3D-B36EE3F44821}"/>
                </a:ext>
              </a:extLst>
            </p:cNvPr>
            <p:cNvSpPr/>
            <p:nvPr/>
          </p:nvSpPr>
          <p:spPr>
            <a:xfrm>
              <a:off x="6117497" y="21452569"/>
              <a:ext cx="1434338" cy="405796"/>
            </a:xfrm>
            <a:prstGeom prst="round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80000"/>
                </a:lnSpc>
              </a:pP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Определение муниципальных образований в границах агломерации</a:t>
              </a:r>
            </a:p>
          </p:txBody>
        </p:sp>
        <p:sp>
          <p:nvSpPr>
            <p:cNvPr id="19" name="Прямоугольник: скругленные углы 18">
              <a:extLst>
                <a:ext uri="{FF2B5EF4-FFF2-40B4-BE49-F238E27FC236}">
                  <a16:creationId xmlns:a16="http://schemas.microsoft.com/office/drawing/2014/main" id="{BE5BC7CD-4AD9-4126-AE45-FF435ABCA8B4}"/>
                </a:ext>
              </a:extLst>
            </p:cNvPr>
            <p:cNvSpPr/>
            <p:nvPr/>
          </p:nvSpPr>
          <p:spPr>
            <a:xfrm>
              <a:off x="6117498" y="22291912"/>
              <a:ext cx="1434338" cy="405796"/>
            </a:xfrm>
            <a:prstGeom prst="round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80000"/>
                </a:lnSpc>
              </a:pP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Выбор муниципального образования для оценки влияния ядра</a:t>
              </a:r>
            </a:p>
          </p:txBody>
        </p:sp>
        <p:cxnSp>
          <p:nvCxnSpPr>
            <p:cNvPr id="20" name="Прямая со стрелкой 19">
              <a:extLst>
                <a:ext uri="{FF2B5EF4-FFF2-40B4-BE49-F238E27FC236}">
                  <a16:creationId xmlns:a16="http://schemas.microsoft.com/office/drawing/2014/main" id="{D5B59A46-E789-4C31-8091-E2576439E726}"/>
                </a:ext>
              </a:extLst>
            </p:cNvPr>
            <p:cNvCxnSpPr>
              <a:cxnSpLocks/>
              <a:stCxn id="18" idx="2"/>
              <a:endCxn id="19" idx="0"/>
            </p:cNvCxnSpPr>
            <p:nvPr/>
          </p:nvCxnSpPr>
          <p:spPr>
            <a:xfrm>
              <a:off x="6834666" y="21858365"/>
              <a:ext cx="1" cy="433547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Прямоугольник: скругленные углы 20">
              <a:extLst>
                <a:ext uri="{FF2B5EF4-FFF2-40B4-BE49-F238E27FC236}">
                  <a16:creationId xmlns:a16="http://schemas.microsoft.com/office/drawing/2014/main" id="{C89DB3A0-01C0-4DED-96F0-A879E2837C85}"/>
                </a:ext>
              </a:extLst>
            </p:cNvPr>
            <p:cNvSpPr/>
            <p:nvPr/>
          </p:nvSpPr>
          <p:spPr>
            <a:xfrm>
              <a:off x="7870451" y="22863522"/>
              <a:ext cx="1074452" cy="332798"/>
            </a:xfrm>
            <a:prstGeom prst="roundRect">
              <a:avLst/>
            </a:prstGeom>
            <a:solidFill>
              <a:srgbClr val="C4D4E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80000"/>
                </a:lnSpc>
              </a:pP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Оценка по времени</a:t>
              </a:r>
            </a:p>
          </p:txBody>
        </p:sp>
        <p:sp>
          <p:nvSpPr>
            <p:cNvPr id="22" name="Прямоугольник: скругленные углы 21">
              <a:extLst>
                <a:ext uri="{FF2B5EF4-FFF2-40B4-BE49-F238E27FC236}">
                  <a16:creationId xmlns:a16="http://schemas.microsoft.com/office/drawing/2014/main" id="{3C7D039C-B2EA-46C0-84E0-45B531FD6BCB}"/>
                </a:ext>
              </a:extLst>
            </p:cNvPr>
            <p:cNvSpPr/>
            <p:nvPr/>
          </p:nvSpPr>
          <p:spPr>
            <a:xfrm>
              <a:off x="6117497" y="23535832"/>
              <a:ext cx="1434338" cy="331407"/>
            </a:xfrm>
            <a:prstGeom prst="roundRect">
              <a:avLst/>
            </a:prstGeom>
            <a:solidFill>
              <a:srgbClr val="AFF7CE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80000"/>
                </a:lnSpc>
              </a:pP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Анализ пространственного развития</a:t>
              </a:r>
            </a:p>
          </p:txBody>
        </p:sp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7DBB7A65-3097-4A6A-8B0C-C48847FC34DB}"/>
                </a:ext>
              </a:extLst>
            </p:cNvPr>
            <p:cNvSpPr/>
            <p:nvPr/>
          </p:nvSpPr>
          <p:spPr>
            <a:xfrm>
              <a:off x="6117497" y="22863522"/>
              <a:ext cx="1434338" cy="332798"/>
            </a:xfrm>
            <a:prstGeom prst="roundRect">
              <a:avLst/>
            </a:prstGeom>
            <a:solidFill>
              <a:srgbClr val="C4D4E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80000"/>
                </a:lnSpc>
              </a:pP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Анализ транспортной доступности ядра</a:t>
              </a:r>
            </a:p>
          </p:txBody>
        </p:sp>
        <p:cxnSp>
          <p:nvCxnSpPr>
            <p:cNvPr id="24" name="Прямая со стрелкой 23">
              <a:extLst>
                <a:ext uri="{FF2B5EF4-FFF2-40B4-BE49-F238E27FC236}">
                  <a16:creationId xmlns:a16="http://schemas.microsoft.com/office/drawing/2014/main" id="{FE612263-51B4-47E7-AD3A-315DC62626AC}"/>
                </a:ext>
              </a:extLst>
            </p:cNvPr>
            <p:cNvCxnSpPr>
              <a:cxnSpLocks/>
              <a:stCxn id="19" idx="2"/>
              <a:endCxn id="23" idx="0"/>
            </p:cNvCxnSpPr>
            <p:nvPr/>
          </p:nvCxnSpPr>
          <p:spPr>
            <a:xfrm flipH="1">
              <a:off x="6834666" y="22697708"/>
              <a:ext cx="1" cy="165815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47294F22-58D5-4665-B13E-BD44436B092A}"/>
                </a:ext>
              </a:extLst>
            </p:cNvPr>
            <p:cNvSpPr/>
            <p:nvPr/>
          </p:nvSpPr>
          <p:spPr>
            <a:xfrm>
              <a:off x="6130084" y="24691697"/>
              <a:ext cx="1434338" cy="328280"/>
            </a:xfrm>
            <a:prstGeom prst="roundRect">
              <a:avLst/>
            </a:prstGeom>
            <a:solidFill>
              <a:srgbClr val="FEA86E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80000"/>
                </a:lnSpc>
              </a:pP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Анализ демографической ситуации</a:t>
              </a:r>
            </a:p>
          </p:txBody>
        </p:sp>
        <p:sp>
          <p:nvSpPr>
            <p:cNvPr id="26" name="Прямоугольник: скругленные углы 25">
              <a:extLst>
                <a:ext uri="{FF2B5EF4-FFF2-40B4-BE49-F238E27FC236}">
                  <a16:creationId xmlns:a16="http://schemas.microsoft.com/office/drawing/2014/main" id="{1A08091E-689A-4A59-8A25-5AC659E1F38A}"/>
                </a:ext>
              </a:extLst>
            </p:cNvPr>
            <p:cNvSpPr/>
            <p:nvPr/>
          </p:nvSpPr>
          <p:spPr>
            <a:xfrm>
              <a:off x="13416783" y="25629688"/>
              <a:ext cx="1245429" cy="467670"/>
            </a:xfrm>
            <a:prstGeom prst="roundRect">
              <a:avLst/>
            </a:prstGeom>
            <a:solidFill>
              <a:srgbClr val="FFFF99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80000"/>
                </a:lnSpc>
              </a:pP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Сбор полученных оценок и корректировка результата</a:t>
              </a:r>
            </a:p>
          </p:txBody>
        </p:sp>
        <p:cxnSp>
          <p:nvCxnSpPr>
            <p:cNvPr id="27" name="Прямая со стрелкой 26">
              <a:extLst>
                <a:ext uri="{FF2B5EF4-FFF2-40B4-BE49-F238E27FC236}">
                  <a16:creationId xmlns:a16="http://schemas.microsoft.com/office/drawing/2014/main" id="{76E17EA0-CC28-4F8C-A8B4-CCE457FBC959}"/>
                </a:ext>
              </a:extLst>
            </p:cNvPr>
            <p:cNvCxnSpPr>
              <a:cxnSpLocks/>
              <a:stCxn id="41" idx="3"/>
              <a:endCxn id="42" idx="1"/>
            </p:cNvCxnSpPr>
            <p:nvPr/>
          </p:nvCxnSpPr>
          <p:spPr>
            <a:xfrm>
              <a:off x="13247761" y="25053254"/>
              <a:ext cx="168530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Прямоугольник: скругленные углы 27">
              <a:extLst>
                <a:ext uri="{FF2B5EF4-FFF2-40B4-BE49-F238E27FC236}">
                  <a16:creationId xmlns:a16="http://schemas.microsoft.com/office/drawing/2014/main" id="{EBCB0C58-E7A5-4382-840A-1FDA7521C40E}"/>
                </a:ext>
              </a:extLst>
            </p:cNvPr>
            <p:cNvSpPr/>
            <p:nvPr/>
          </p:nvSpPr>
          <p:spPr>
            <a:xfrm>
              <a:off x="10833735" y="22861983"/>
              <a:ext cx="1074450" cy="332797"/>
            </a:xfrm>
            <a:prstGeom prst="roundRect">
              <a:avLst/>
            </a:prstGeom>
            <a:solidFill>
              <a:srgbClr val="C4D4E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80000"/>
                </a:lnSpc>
              </a:pP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Оценка</a:t>
              </a:r>
              <a:b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по типам ОТ</a:t>
              </a:r>
            </a:p>
          </p:txBody>
        </p:sp>
        <p:sp>
          <p:nvSpPr>
            <p:cNvPr id="29" name="Прямоугольник: скругленные углы 28">
              <a:extLst>
                <a:ext uri="{FF2B5EF4-FFF2-40B4-BE49-F238E27FC236}">
                  <a16:creationId xmlns:a16="http://schemas.microsoft.com/office/drawing/2014/main" id="{FC9C4EBC-35B9-43D8-949B-5CB52E4CD30B}"/>
                </a:ext>
              </a:extLst>
            </p:cNvPr>
            <p:cNvSpPr/>
            <p:nvPr/>
          </p:nvSpPr>
          <p:spPr>
            <a:xfrm>
              <a:off x="12144006" y="22862081"/>
              <a:ext cx="1074450" cy="328280"/>
            </a:xfrm>
            <a:prstGeom prst="roundRect">
              <a:avLst/>
            </a:prstGeom>
            <a:solidFill>
              <a:srgbClr val="C4D4E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80000"/>
                </a:lnSpc>
              </a:pP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Оценка по транспортному аспекту</a:t>
              </a:r>
              <a:r>
                <a:rPr lang="ru-RU" sz="1600" spc="-10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</a:t>
              </a:r>
              <a:endParaRPr lang="ru-RU" sz="1600" spc="-100" dirty="0">
                <a:solidFill>
                  <a:schemeClr val="tx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30" name="Соединитель: уступ 29">
              <a:extLst>
                <a:ext uri="{FF2B5EF4-FFF2-40B4-BE49-F238E27FC236}">
                  <a16:creationId xmlns:a16="http://schemas.microsoft.com/office/drawing/2014/main" id="{852865BB-0F74-48D2-86F9-A7E89CFCE3BF}"/>
                </a:ext>
              </a:extLst>
            </p:cNvPr>
            <p:cNvCxnSpPr>
              <a:cxnSpLocks/>
              <a:stCxn id="28" idx="3"/>
              <a:endCxn id="29" idx="1"/>
            </p:cNvCxnSpPr>
            <p:nvPr/>
          </p:nvCxnSpPr>
          <p:spPr>
            <a:xfrm flipV="1">
              <a:off x="11908185" y="23026221"/>
              <a:ext cx="235821" cy="216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Прямоугольник: скругленные углы 30">
              <a:extLst>
                <a:ext uri="{FF2B5EF4-FFF2-40B4-BE49-F238E27FC236}">
                  <a16:creationId xmlns:a16="http://schemas.microsoft.com/office/drawing/2014/main" id="{4322E0CF-BAF7-464B-9D02-FCC538686B0F}"/>
                </a:ext>
              </a:extLst>
            </p:cNvPr>
            <p:cNvSpPr/>
            <p:nvPr/>
          </p:nvSpPr>
          <p:spPr>
            <a:xfrm>
              <a:off x="9371452" y="23543550"/>
              <a:ext cx="1083624" cy="316192"/>
            </a:xfrm>
            <a:prstGeom prst="roundRect">
              <a:avLst/>
            </a:prstGeom>
            <a:solidFill>
              <a:srgbClr val="AFF7CE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80000"/>
                </a:lnSpc>
              </a:pP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Вычисление изменения баланса функциональных зон</a:t>
              </a:r>
            </a:p>
          </p:txBody>
        </p:sp>
        <p:sp>
          <p:nvSpPr>
            <p:cNvPr id="32" name="Прямоугольник: скругленные углы 31">
              <a:extLst>
                <a:ext uri="{FF2B5EF4-FFF2-40B4-BE49-F238E27FC236}">
                  <a16:creationId xmlns:a16="http://schemas.microsoft.com/office/drawing/2014/main" id="{04BA6322-00D6-4012-8275-77945674FD52}"/>
                </a:ext>
              </a:extLst>
            </p:cNvPr>
            <p:cNvSpPr/>
            <p:nvPr/>
          </p:nvSpPr>
          <p:spPr>
            <a:xfrm>
              <a:off x="7869043" y="23539383"/>
              <a:ext cx="1074450" cy="328280"/>
            </a:xfrm>
            <a:prstGeom prst="roundRect">
              <a:avLst/>
            </a:prstGeom>
            <a:solidFill>
              <a:srgbClr val="AFF7CE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80000"/>
                </a:lnSpc>
              </a:pP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Фиксирование расчётного срока</a:t>
              </a:r>
            </a:p>
          </p:txBody>
        </p:sp>
        <p:sp>
          <p:nvSpPr>
            <p:cNvPr id="33" name="Прямоугольник: скругленные углы 32">
              <a:extLst>
                <a:ext uri="{FF2B5EF4-FFF2-40B4-BE49-F238E27FC236}">
                  <a16:creationId xmlns:a16="http://schemas.microsoft.com/office/drawing/2014/main" id="{2B52DC2E-136E-4193-8358-2A5EC0BD5319}"/>
                </a:ext>
              </a:extLst>
            </p:cNvPr>
            <p:cNvSpPr/>
            <p:nvPr/>
          </p:nvSpPr>
          <p:spPr>
            <a:xfrm>
              <a:off x="7869043" y="23972472"/>
              <a:ext cx="1074450" cy="468088"/>
            </a:xfrm>
            <a:prstGeom prst="roundRect">
              <a:avLst/>
            </a:prstGeom>
            <a:solidFill>
              <a:srgbClr val="AFF7CE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80000"/>
                </a:lnSpc>
              </a:pP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Фиксирование перспективной численности населения</a:t>
              </a:r>
            </a:p>
          </p:txBody>
        </p:sp>
        <p:sp>
          <p:nvSpPr>
            <p:cNvPr id="34" name="Прямоугольник: скругленные углы 33">
              <a:extLst>
                <a:ext uri="{FF2B5EF4-FFF2-40B4-BE49-F238E27FC236}">
                  <a16:creationId xmlns:a16="http://schemas.microsoft.com/office/drawing/2014/main" id="{1F9AB188-4F4D-4F77-89D8-C9E40EC1EE19}"/>
                </a:ext>
              </a:extLst>
            </p:cNvPr>
            <p:cNvSpPr/>
            <p:nvPr/>
          </p:nvSpPr>
          <p:spPr>
            <a:xfrm>
              <a:off x="7869043" y="24620043"/>
              <a:ext cx="1074450" cy="468088"/>
            </a:xfrm>
            <a:prstGeom prst="roundRect">
              <a:avLst/>
            </a:prstGeom>
            <a:solidFill>
              <a:srgbClr val="FEA86E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80000"/>
                </a:lnSpc>
              </a:pP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Фиксирование текущей численности населения субъекта</a:t>
              </a:r>
            </a:p>
          </p:txBody>
        </p:sp>
        <p:sp>
          <p:nvSpPr>
            <p:cNvPr id="35" name="Прямоугольник: скругленные углы 34">
              <a:extLst>
                <a:ext uri="{FF2B5EF4-FFF2-40B4-BE49-F238E27FC236}">
                  <a16:creationId xmlns:a16="http://schemas.microsoft.com/office/drawing/2014/main" id="{9508A7E5-997B-463B-90F8-8C340A99AF7F}"/>
                </a:ext>
              </a:extLst>
            </p:cNvPr>
            <p:cNvSpPr/>
            <p:nvPr/>
          </p:nvSpPr>
          <p:spPr>
            <a:xfrm>
              <a:off x="9357700" y="24622338"/>
              <a:ext cx="1083624" cy="462504"/>
            </a:xfrm>
            <a:prstGeom prst="roundRect">
              <a:avLst/>
            </a:prstGeom>
            <a:solidFill>
              <a:srgbClr val="FEA86E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80000"/>
                </a:lnSpc>
              </a:pP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Оценка по демографическому аспекту</a:t>
              </a:r>
              <a:r>
                <a:rPr lang="ru-RU" sz="1600" spc="-10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  <a:endParaRPr lang="ru-RU" sz="1600" spc="-100" dirty="0">
                <a:solidFill>
                  <a:schemeClr val="tx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36" name="Соединитель: уступ 35">
              <a:extLst>
                <a:ext uri="{FF2B5EF4-FFF2-40B4-BE49-F238E27FC236}">
                  <a16:creationId xmlns:a16="http://schemas.microsoft.com/office/drawing/2014/main" id="{1D933CCD-5011-4B08-8E6A-D1D6C5FC6D25}"/>
                </a:ext>
              </a:extLst>
            </p:cNvPr>
            <p:cNvCxnSpPr>
              <a:cxnSpLocks/>
              <a:stCxn id="34" idx="3"/>
              <a:endCxn id="35" idx="1"/>
            </p:cNvCxnSpPr>
            <p:nvPr/>
          </p:nvCxnSpPr>
          <p:spPr>
            <a:xfrm flipV="1">
              <a:off x="8943493" y="24853590"/>
              <a:ext cx="414207" cy="49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Соединитель: уступ 36">
              <a:extLst>
                <a:ext uri="{FF2B5EF4-FFF2-40B4-BE49-F238E27FC236}">
                  <a16:creationId xmlns:a16="http://schemas.microsoft.com/office/drawing/2014/main" id="{2AA66062-4DF2-4273-867E-671B32831CA9}"/>
                </a:ext>
              </a:extLst>
            </p:cNvPr>
            <p:cNvCxnSpPr>
              <a:cxnSpLocks/>
              <a:stCxn id="22" idx="3"/>
              <a:endCxn id="33" idx="1"/>
            </p:cNvCxnSpPr>
            <p:nvPr/>
          </p:nvCxnSpPr>
          <p:spPr>
            <a:xfrm>
              <a:off x="7551835" y="23701536"/>
              <a:ext cx="317208" cy="50498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Соединитель: уступ 37">
              <a:extLst>
                <a:ext uri="{FF2B5EF4-FFF2-40B4-BE49-F238E27FC236}">
                  <a16:creationId xmlns:a16="http://schemas.microsoft.com/office/drawing/2014/main" id="{0AC653CA-FB4A-4DD2-93DC-3762A5385368}"/>
                </a:ext>
              </a:extLst>
            </p:cNvPr>
            <p:cNvCxnSpPr>
              <a:cxnSpLocks/>
              <a:stCxn id="25" idx="3"/>
              <a:endCxn id="34" idx="1"/>
            </p:cNvCxnSpPr>
            <p:nvPr/>
          </p:nvCxnSpPr>
          <p:spPr>
            <a:xfrm flipV="1">
              <a:off x="7564422" y="24854087"/>
              <a:ext cx="304621" cy="175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6DFFD2B4-0F59-4497-841F-3C81C9335438}"/>
                </a:ext>
              </a:extLst>
            </p:cNvPr>
            <p:cNvSpPr/>
            <p:nvPr/>
          </p:nvSpPr>
          <p:spPr>
            <a:xfrm>
              <a:off x="10833035" y="24701358"/>
              <a:ext cx="1083624" cy="701763"/>
            </a:xfrm>
            <a:prstGeom prst="roundRect">
              <a:avLst/>
            </a:prstGeom>
            <a:solidFill>
              <a:srgbClr val="FFFF99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80000"/>
                </a:lnSpc>
              </a:pP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Комплексная, оценка влияния агломерационного эффекта</a:t>
              </a:r>
              <a:r>
                <a:rPr lang="ru-RU" sz="1600" spc="-10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R</a:t>
              </a:r>
              <a:endParaRPr lang="ru-RU" sz="1600" spc="-100" dirty="0">
                <a:solidFill>
                  <a:schemeClr val="tx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40" name="Соединитель: уступ 39">
              <a:extLst>
                <a:ext uri="{FF2B5EF4-FFF2-40B4-BE49-F238E27FC236}">
                  <a16:creationId xmlns:a16="http://schemas.microsoft.com/office/drawing/2014/main" id="{16AB76E6-F76C-446C-B17E-7FAC799CD6DA}"/>
                </a:ext>
              </a:extLst>
            </p:cNvPr>
            <p:cNvCxnSpPr>
              <a:cxnSpLocks/>
              <a:stCxn id="35" idx="3"/>
              <a:endCxn id="39" idx="1"/>
            </p:cNvCxnSpPr>
            <p:nvPr/>
          </p:nvCxnSpPr>
          <p:spPr>
            <a:xfrm>
              <a:off x="10441324" y="24853590"/>
              <a:ext cx="391711" cy="198649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Прямоугольник: скругленные углы 40">
              <a:extLst>
                <a:ext uri="{FF2B5EF4-FFF2-40B4-BE49-F238E27FC236}">
                  <a16:creationId xmlns:a16="http://schemas.microsoft.com/office/drawing/2014/main" id="{3D12D7C2-C8E5-4AE6-9B00-96FF9F2C0F94}"/>
                </a:ext>
              </a:extLst>
            </p:cNvPr>
            <p:cNvSpPr/>
            <p:nvPr/>
          </p:nvSpPr>
          <p:spPr>
            <a:xfrm>
              <a:off x="12109852" y="24703385"/>
              <a:ext cx="1137909" cy="699737"/>
            </a:xfrm>
            <a:prstGeom prst="roundRect">
              <a:avLst/>
            </a:prstGeom>
            <a:solidFill>
              <a:srgbClr val="FFFF99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80000"/>
                </a:lnSpc>
              </a:pP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Интерпретация оценки и определение типа структурного элемента агломерации</a:t>
              </a:r>
            </a:p>
          </p:txBody>
        </p:sp>
        <p:sp>
          <p:nvSpPr>
            <p:cNvPr id="42" name="Ромб 41">
              <a:extLst>
                <a:ext uri="{FF2B5EF4-FFF2-40B4-BE49-F238E27FC236}">
                  <a16:creationId xmlns:a16="http://schemas.microsoft.com/office/drawing/2014/main" id="{31EC9558-44EF-45A0-AC18-F9D5B5CCF744}"/>
                </a:ext>
              </a:extLst>
            </p:cNvPr>
            <p:cNvSpPr/>
            <p:nvPr/>
          </p:nvSpPr>
          <p:spPr>
            <a:xfrm>
              <a:off x="13416291" y="24703385"/>
              <a:ext cx="1252520" cy="699737"/>
            </a:xfrm>
            <a:prstGeom prst="diamond">
              <a:avLst/>
            </a:prstGeom>
            <a:solidFill>
              <a:srgbClr val="FFFF99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80000"/>
                </a:lnSpc>
              </a:pP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Все субъекты </a:t>
              </a:r>
              <a:r>
                <a:rPr lang="ru-RU" sz="1600" spc="-100" dirty="0" err="1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структури-рованы</a:t>
              </a:r>
              <a:endParaRPr lang="ru-RU" sz="1600" spc="-100" dirty="0">
                <a:solidFill>
                  <a:schemeClr val="tx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3" name="Ромб 42">
              <a:extLst>
                <a:ext uri="{FF2B5EF4-FFF2-40B4-BE49-F238E27FC236}">
                  <a16:creationId xmlns:a16="http://schemas.microsoft.com/office/drawing/2014/main" id="{C4CE3728-5A26-47A0-9F08-33A2E086BF81}"/>
                </a:ext>
              </a:extLst>
            </p:cNvPr>
            <p:cNvSpPr/>
            <p:nvPr/>
          </p:nvSpPr>
          <p:spPr>
            <a:xfrm>
              <a:off x="9153157" y="22676353"/>
              <a:ext cx="1434338" cy="699737"/>
            </a:xfrm>
            <a:prstGeom prst="diamond">
              <a:avLst/>
            </a:prstGeom>
            <a:solidFill>
              <a:srgbClr val="C4D4E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80000"/>
                </a:lnSpc>
              </a:pP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Субъект </a:t>
              </a:r>
              <a:b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в зоне </a:t>
              </a:r>
              <a:b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2-часовой доступности</a:t>
              </a:r>
            </a:p>
          </p:txBody>
        </p:sp>
        <p:sp>
          <p:nvSpPr>
            <p:cNvPr id="44" name="Прямоугольник: скругленные углы 43">
              <a:extLst>
                <a:ext uri="{FF2B5EF4-FFF2-40B4-BE49-F238E27FC236}">
                  <a16:creationId xmlns:a16="http://schemas.microsoft.com/office/drawing/2014/main" id="{34EA4172-0C0E-4B4C-B1E1-53A113F00023}"/>
                </a:ext>
              </a:extLst>
            </p:cNvPr>
            <p:cNvSpPr/>
            <p:nvPr/>
          </p:nvSpPr>
          <p:spPr>
            <a:xfrm>
              <a:off x="7806993" y="22009775"/>
              <a:ext cx="1137909" cy="332797"/>
            </a:xfrm>
            <a:prstGeom prst="roundRect">
              <a:avLst/>
            </a:prstGeom>
            <a:solidFill>
              <a:srgbClr val="C4D4E2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80000"/>
                </a:lnSpc>
              </a:pP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Корректировка состава агломерации</a:t>
              </a:r>
            </a:p>
          </p:txBody>
        </p:sp>
        <p:cxnSp>
          <p:nvCxnSpPr>
            <p:cNvPr id="45" name="Соединитель: уступ 44">
              <a:extLst>
                <a:ext uri="{FF2B5EF4-FFF2-40B4-BE49-F238E27FC236}">
                  <a16:creationId xmlns:a16="http://schemas.microsoft.com/office/drawing/2014/main" id="{32650621-E916-4C0D-87FD-E649880BB5BC}"/>
                </a:ext>
              </a:extLst>
            </p:cNvPr>
            <p:cNvCxnSpPr>
              <a:cxnSpLocks/>
              <a:stCxn id="43" idx="0"/>
              <a:endCxn id="44" idx="3"/>
            </p:cNvCxnSpPr>
            <p:nvPr/>
          </p:nvCxnSpPr>
          <p:spPr>
            <a:xfrm rot="16200000" flipV="1">
              <a:off x="9157525" y="21963552"/>
              <a:ext cx="500179" cy="925424"/>
            </a:xfrm>
            <a:prstGeom prst="bentConnector2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Соединитель: уступ 45">
              <a:extLst>
                <a:ext uri="{FF2B5EF4-FFF2-40B4-BE49-F238E27FC236}">
                  <a16:creationId xmlns:a16="http://schemas.microsoft.com/office/drawing/2014/main" id="{B4100EB2-F80A-4F69-A4CA-810A6F7A5D01}"/>
                </a:ext>
              </a:extLst>
            </p:cNvPr>
            <p:cNvCxnSpPr>
              <a:cxnSpLocks/>
              <a:stCxn id="29" idx="2"/>
              <a:endCxn id="22" idx="0"/>
            </p:cNvCxnSpPr>
            <p:nvPr/>
          </p:nvCxnSpPr>
          <p:spPr>
            <a:xfrm rot="5400000">
              <a:off x="9585214" y="20439814"/>
              <a:ext cx="345471" cy="5846565"/>
            </a:xfrm>
            <a:prstGeom prst="bentConnector3">
              <a:avLst>
                <a:gd name="adj1" fmla="val 60760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Соединитель: уступ 46">
              <a:extLst>
                <a:ext uri="{FF2B5EF4-FFF2-40B4-BE49-F238E27FC236}">
                  <a16:creationId xmlns:a16="http://schemas.microsoft.com/office/drawing/2014/main" id="{0D543A37-C35D-40EB-BA23-A9AE57416C06}"/>
                </a:ext>
              </a:extLst>
            </p:cNvPr>
            <p:cNvCxnSpPr>
              <a:cxnSpLocks/>
              <a:stCxn id="57" idx="2"/>
              <a:endCxn id="25" idx="0"/>
            </p:cNvCxnSpPr>
            <p:nvPr/>
          </p:nvCxnSpPr>
          <p:spPr>
            <a:xfrm rot="5400000">
              <a:off x="9347543" y="21354122"/>
              <a:ext cx="837286" cy="5837865"/>
            </a:xfrm>
            <a:prstGeom prst="bentConnector3">
              <a:avLst>
                <a:gd name="adj1" fmla="val 80188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Соединитель: уступ 47">
              <a:extLst>
                <a:ext uri="{FF2B5EF4-FFF2-40B4-BE49-F238E27FC236}">
                  <a16:creationId xmlns:a16="http://schemas.microsoft.com/office/drawing/2014/main" id="{E94D8C2F-C106-4AC9-9C69-93B8267E3707}"/>
                </a:ext>
              </a:extLst>
            </p:cNvPr>
            <p:cNvCxnSpPr>
              <a:cxnSpLocks/>
              <a:stCxn id="42" idx="0"/>
            </p:cNvCxnSpPr>
            <p:nvPr/>
          </p:nvCxnSpPr>
          <p:spPr>
            <a:xfrm rot="16200000" flipV="1">
              <a:off x="9036885" y="19697719"/>
              <a:ext cx="2803446" cy="7207886"/>
            </a:xfrm>
            <a:prstGeom prst="bentConnector2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Прямая со стрелкой 48">
              <a:extLst>
                <a:ext uri="{FF2B5EF4-FFF2-40B4-BE49-F238E27FC236}">
                  <a16:creationId xmlns:a16="http://schemas.microsoft.com/office/drawing/2014/main" id="{11C4C400-362F-4DE5-A83E-A5DF3D2FE1EB}"/>
                </a:ext>
              </a:extLst>
            </p:cNvPr>
            <p:cNvCxnSpPr>
              <a:cxnSpLocks/>
              <a:stCxn id="42" idx="2"/>
              <a:endCxn id="26" idx="0"/>
            </p:cNvCxnSpPr>
            <p:nvPr/>
          </p:nvCxnSpPr>
          <p:spPr>
            <a:xfrm flipH="1">
              <a:off x="14039498" y="25403122"/>
              <a:ext cx="3053" cy="226566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Прямая со стрелкой 49">
              <a:extLst>
                <a:ext uri="{FF2B5EF4-FFF2-40B4-BE49-F238E27FC236}">
                  <a16:creationId xmlns:a16="http://schemas.microsoft.com/office/drawing/2014/main" id="{7B97F951-DE5A-46E9-A481-765318ED4EFE}"/>
                </a:ext>
              </a:extLst>
            </p:cNvPr>
            <p:cNvCxnSpPr>
              <a:cxnSpLocks/>
              <a:stCxn id="23" idx="3"/>
              <a:endCxn id="21" idx="1"/>
            </p:cNvCxnSpPr>
            <p:nvPr/>
          </p:nvCxnSpPr>
          <p:spPr>
            <a:xfrm>
              <a:off x="7551835" y="23029921"/>
              <a:ext cx="318616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Прямая со стрелкой 50">
              <a:extLst>
                <a:ext uri="{FF2B5EF4-FFF2-40B4-BE49-F238E27FC236}">
                  <a16:creationId xmlns:a16="http://schemas.microsoft.com/office/drawing/2014/main" id="{69280642-5888-45E1-A432-F94DE841CC69}"/>
                </a:ext>
              </a:extLst>
            </p:cNvPr>
            <p:cNvCxnSpPr>
              <a:cxnSpLocks/>
              <a:stCxn id="21" idx="3"/>
              <a:endCxn id="43" idx="1"/>
            </p:cNvCxnSpPr>
            <p:nvPr/>
          </p:nvCxnSpPr>
          <p:spPr>
            <a:xfrm flipV="1">
              <a:off x="8944903" y="23026222"/>
              <a:ext cx="208254" cy="3699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Прямая со стрелкой 51">
              <a:extLst>
                <a:ext uri="{FF2B5EF4-FFF2-40B4-BE49-F238E27FC236}">
                  <a16:creationId xmlns:a16="http://schemas.microsoft.com/office/drawing/2014/main" id="{5FD72BA4-D035-4AF3-AC49-414CDB2F2DAE}"/>
                </a:ext>
              </a:extLst>
            </p:cNvPr>
            <p:cNvCxnSpPr>
              <a:cxnSpLocks/>
              <a:stCxn id="44" idx="1"/>
            </p:cNvCxnSpPr>
            <p:nvPr/>
          </p:nvCxnSpPr>
          <p:spPr>
            <a:xfrm flipH="1">
              <a:off x="6834666" y="22176174"/>
              <a:ext cx="972327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Прямая со стрелкой 52">
              <a:extLst>
                <a:ext uri="{FF2B5EF4-FFF2-40B4-BE49-F238E27FC236}">
                  <a16:creationId xmlns:a16="http://schemas.microsoft.com/office/drawing/2014/main" id="{E4C9CD31-0241-4306-B70D-7270DC9584FC}"/>
                </a:ext>
              </a:extLst>
            </p:cNvPr>
            <p:cNvCxnSpPr>
              <a:cxnSpLocks/>
              <a:stCxn id="43" idx="3"/>
              <a:endCxn id="28" idx="1"/>
            </p:cNvCxnSpPr>
            <p:nvPr/>
          </p:nvCxnSpPr>
          <p:spPr>
            <a:xfrm>
              <a:off x="10587495" y="23026222"/>
              <a:ext cx="246240" cy="216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Прямая со стрелкой 53">
              <a:extLst>
                <a:ext uri="{FF2B5EF4-FFF2-40B4-BE49-F238E27FC236}">
                  <a16:creationId xmlns:a16="http://schemas.microsoft.com/office/drawing/2014/main" id="{3643274C-9F4C-4E6D-A209-9F3C8ED3FAF5}"/>
                </a:ext>
              </a:extLst>
            </p:cNvPr>
            <p:cNvCxnSpPr>
              <a:cxnSpLocks/>
              <a:stCxn id="22" idx="3"/>
              <a:endCxn id="32" idx="1"/>
            </p:cNvCxnSpPr>
            <p:nvPr/>
          </p:nvCxnSpPr>
          <p:spPr>
            <a:xfrm>
              <a:off x="7551835" y="23701536"/>
              <a:ext cx="317208" cy="1987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Прямая со стрелкой 54">
              <a:extLst>
                <a:ext uri="{FF2B5EF4-FFF2-40B4-BE49-F238E27FC236}">
                  <a16:creationId xmlns:a16="http://schemas.microsoft.com/office/drawing/2014/main" id="{5F82C52F-C5A9-499E-AE39-8E001B770314}"/>
                </a:ext>
              </a:extLst>
            </p:cNvPr>
            <p:cNvCxnSpPr>
              <a:cxnSpLocks/>
              <a:stCxn id="39" idx="3"/>
              <a:endCxn id="41" idx="1"/>
            </p:cNvCxnSpPr>
            <p:nvPr/>
          </p:nvCxnSpPr>
          <p:spPr>
            <a:xfrm>
              <a:off x="11916659" y="25052240"/>
              <a:ext cx="193193" cy="1014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Прямоугольник: скругленные углы 55">
              <a:extLst>
                <a:ext uri="{FF2B5EF4-FFF2-40B4-BE49-F238E27FC236}">
                  <a16:creationId xmlns:a16="http://schemas.microsoft.com/office/drawing/2014/main" id="{2D6DC1E5-CDD0-4CA5-AE93-2E84909EF5F7}"/>
                </a:ext>
              </a:extLst>
            </p:cNvPr>
            <p:cNvSpPr/>
            <p:nvPr/>
          </p:nvSpPr>
          <p:spPr>
            <a:xfrm>
              <a:off x="10833035" y="23543550"/>
              <a:ext cx="1083624" cy="316192"/>
            </a:xfrm>
            <a:prstGeom prst="roundRect">
              <a:avLst/>
            </a:prstGeom>
            <a:solidFill>
              <a:srgbClr val="AFF7CE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80000"/>
                </a:lnSpc>
              </a:pP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Оценка темпа пространственного развития</a:t>
              </a:r>
              <a:r>
                <a:rPr lang="ru-RU" sz="1600" spc="-10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US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d temp</a:t>
              </a:r>
              <a:endParaRPr lang="ru-RU" sz="1600" spc="-100" dirty="0">
                <a:solidFill>
                  <a:schemeClr val="tx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7" name="Прямоугольник: скругленные углы 56">
              <a:extLst>
                <a:ext uri="{FF2B5EF4-FFF2-40B4-BE49-F238E27FC236}">
                  <a16:creationId xmlns:a16="http://schemas.microsoft.com/office/drawing/2014/main" id="{F03D92BC-CE4F-4FAE-B56D-EE7CA62B4FCB}"/>
                </a:ext>
              </a:extLst>
            </p:cNvPr>
            <p:cNvSpPr/>
            <p:nvPr/>
          </p:nvSpPr>
          <p:spPr>
            <a:xfrm>
              <a:off x="12143306" y="23538219"/>
              <a:ext cx="1083624" cy="316192"/>
            </a:xfrm>
            <a:prstGeom prst="roundRect">
              <a:avLst/>
            </a:prstGeom>
            <a:solidFill>
              <a:srgbClr val="AFF7CE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80000"/>
                </a:lnSpc>
              </a:pP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Оценка по пространственному аспекту, </a:t>
              </a:r>
              <a:r>
                <a:rPr lang="en-US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D</a:t>
              </a:r>
              <a:endParaRPr lang="ru-RU" sz="1600" spc="-100" dirty="0">
                <a:solidFill>
                  <a:schemeClr val="tx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58" name="Прямая со стрелкой 57">
              <a:extLst>
                <a:ext uri="{FF2B5EF4-FFF2-40B4-BE49-F238E27FC236}">
                  <a16:creationId xmlns:a16="http://schemas.microsoft.com/office/drawing/2014/main" id="{3CF37368-638C-47F1-AE43-758D1BA34608}"/>
                </a:ext>
              </a:extLst>
            </p:cNvPr>
            <p:cNvCxnSpPr>
              <a:cxnSpLocks/>
              <a:stCxn id="31" idx="3"/>
              <a:endCxn id="56" idx="1"/>
            </p:cNvCxnSpPr>
            <p:nvPr/>
          </p:nvCxnSpPr>
          <p:spPr>
            <a:xfrm>
              <a:off x="10455076" y="23701646"/>
              <a:ext cx="377959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Прямая со стрелкой 58">
              <a:extLst>
                <a:ext uri="{FF2B5EF4-FFF2-40B4-BE49-F238E27FC236}">
                  <a16:creationId xmlns:a16="http://schemas.microsoft.com/office/drawing/2014/main" id="{376A406C-A9B7-4F62-B0D7-AEDB4284F1FF}"/>
                </a:ext>
              </a:extLst>
            </p:cNvPr>
            <p:cNvCxnSpPr>
              <a:cxnSpLocks/>
              <a:stCxn id="56" idx="3"/>
              <a:endCxn id="57" idx="1"/>
            </p:cNvCxnSpPr>
            <p:nvPr/>
          </p:nvCxnSpPr>
          <p:spPr>
            <a:xfrm flipV="1">
              <a:off x="11916659" y="23696315"/>
              <a:ext cx="226647" cy="5331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Прямоугольник: скругленные углы 59">
              <a:extLst>
                <a:ext uri="{FF2B5EF4-FFF2-40B4-BE49-F238E27FC236}">
                  <a16:creationId xmlns:a16="http://schemas.microsoft.com/office/drawing/2014/main" id="{6C359B36-1D6F-43E3-97EE-07EB4BE704E0}"/>
                </a:ext>
              </a:extLst>
            </p:cNvPr>
            <p:cNvSpPr/>
            <p:nvPr/>
          </p:nvSpPr>
          <p:spPr>
            <a:xfrm>
              <a:off x="7869043" y="25221318"/>
              <a:ext cx="1074450" cy="468088"/>
            </a:xfrm>
            <a:prstGeom prst="roundRect">
              <a:avLst/>
            </a:prstGeom>
            <a:solidFill>
              <a:srgbClr val="FEA86E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80000"/>
                </a:lnSpc>
              </a:pPr>
              <a:r>
                <a:rPr lang="ru-RU" sz="1600" spc="-100" dirty="0">
                  <a:solidFill>
                    <a:schemeClr val="tx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Фиксирование текущей численности населения ядра</a:t>
              </a:r>
            </a:p>
          </p:txBody>
        </p:sp>
        <p:cxnSp>
          <p:nvCxnSpPr>
            <p:cNvPr id="61" name="Соединитель: уступ 60">
              <a:extLst>
                <a:ext uri="{FF2B5EF4-FFF2-40B4-BE49-F238E27FC236}">
                  <a16:creationId xmlns:a16="http://schemas.microsoft.com/office/drawing/2014/main" id="{FFF96022-0C94-42EF-BD33-AD49BB11323C}"/>
                </a:ext>
              </a:extLst>
            </p:cNvPr>
            <p:cNvCxnSpPr>
              <a:cxnSpLocks/>
              <a:stCxn id="25" idx="3"/>
              <a:endCxn id="60" idx="1"/>
            </p:cNvCxnSpPr>
            <p:nvPr/>
          </p:nvCxnSpPr>
          <p:spPr>
            <a:xfrm>
              <a:off x="7564422" y="24855837"/>
              <a:ext cx="304621" cy="599525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Соединитель: уступ 61">
              <a:extLst>
                <a:ext uri="{FF2B5EF4-FFF2-40B4-BE49-F238E27FC236}">
                  <a16:creationId xmlns:a16="http://schemas.microsoft.com/office/drawing/2014/main" id="{1339FB2E-2293-4CA4-AE86-54E0D968AB06}"/>
                </a:ext>
              </a:extLst>
            </p:cNvPr>
            <p:cNvCxnSpPr>
              <a:cxnSpLocks/>
              <a:stCxn id="60" idx="3"/>
              <a:endCxn id="35" idx="1"/>
            </p:cNvCxnSpPr>
            <p:nvPr/>
          </p:nvCxnSpPr>
          <p:spPr>
            <a:xfrm flipV="1">
              <a:off x="8943493" y="24853590"/>
              <a:ext cx="414207" cy="601772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Прямая со стрелкой 62">
              <a:extLst>
                <a:ext uri="{FF2B5EF4-FFF2-40B4-BE49-F238E27FC236}">
                  <a16:creationId xmlns:a16="http://schemas.microsoft.com/office/drawing/2014/main" id="{8F4E758E-930A-4B46-B9B3-5224772AB9EB}"/>
                </a:ext>
              </a:extLst>
            </p:cNvPr>
            <p:cNvCxnSpPr>
              <a:cxnSpLocks/>
              <a:stCxn id="32" idx="3"/>
              <a:endCxn id="31" idx="1"/>
            </p:cNvCxnSpPr>
            <p:nvPr/>
          </p:nvCxnSpPr>
          <p:spPr>
            <a:xfrm flipV="1">
              <a:off x="8943493" y="23701646"/>
              <a:ext cx="427959" cy="1877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PlaceHolder 1">
              <a:extLst>
                <a:ext uri="{FF2B5EF4-FFF2-40B4-BE49-F238E27FC236}">
                  <a16:creationId xmlns:a16="http://schemas.microsoft.com/office/drawing/2014/main" id="{B6E04F56-E214-4090-B625-9B7AB047C5CB}"/>
                </a:ext>
              </a:extLst>
            </p:cNvPr>
            <p:cNvSpPr txBox="1">
              <a:spLocks/>
            </p:cNvSpPr>
            <p:nvPr/>
          </p:nvSpPr>
          <p:spPr>
            <a:xfrm>
              <a:off x="9820983" y="22403168"/>
              <a:ext cx="444624" cy="259016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91440" rIns="91440" bIns="9144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80000"/>
                </a:lnSpc>
                <a:spcBef>
                  <a:spcPts val="0"/>
                </a:spcBef>
                <a:tabLst>
                  <a:tab pos="0" algn="l"/>
                </a:tabLst>
              </a:pPr>
              <a:r>
                <a:rPr lang="ru-RU" sz="1600" spc="-100" dirty="0">
                  <a:solidFill>
                    <a:schemeClr val="dk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нет</a:t>
              </a:r>
              <a:endParaRPr lang="fr-FR" sz="1600" spc="-100" dirty="0">
                <a:solidFill>
                  <a:schemeClr val="dk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5" name="PlaceHolder 1">
              <a:extLst>
                <a:ext uri="{FF2B5EF4-FFF2-40B4-BE49-F238E27FC236}">
                  <a16:creationId xmlns:a16="http://schemas.microsoft.com/office/drawing/2014/main" id="{99A710E3-5DBB-491F-8E00-C3649D881E66}"/>
                </a:ext>
              </a:extLst>
            </p:cNvPr>
            <p:cNvSpPr txBox="1">
              <a:spLocks/>
            </p:cNvSpPr>
            <p:nvPr/>
          </p:nvSpPr>
          <p:spPr>
            <a:xfrm>
              <a:off x="13977998" y="24426521"/>
              <a:ext cx="444624" cy="259016"/>
            </a:xfrm>
            <a:prstGeom prst="rect">
              <a:avLst/>
            </a:prstGeom>
            <a:noFill/>
            <a:ln w="0">
              <a:noFill/>
            </a:ln>
          </p:spPr>
          <p:txBody>
            <a:bodyPr lIns="91440" tIns="91440" rIns="91440" bIns="9144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80000"/>
                </a:lnSpc>
                <a:spcBef>
                  <a:spcPts val="0"/>
                </a:spcBef>
                <a:tabLst>
                  <a:tab pos="0" algn="l"/>
                </a:tabLst>
              </a:pPr>
              <a:r>
                <a:rPr lang="ru-RU" sz="1600" spc="-100" dirty="0">
                  <a:solidFill>
                    <a:schemeClr val="dk1"/>
                  </a:solidFill>
                  <a:latin typeface="Manrope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нет</a:t>
              </a:r>
              <a:endParaRPr lang="fr-FR" sz="1600" spc="-100" dirty="0">
                <a:solidFill>
                  <a:schemeClr val="dk1"/>
                </a:solidFill>
                <a:latin typeface="Manrope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AA63FCC-6E61-4443-B95E-68E1687D1741}"/>
              </a:ext>
            </a:extLst>
          </p:cNvPr>
          <p:cNvSpPr txBox="1"/>
          <p:nvPr/>
        </p:nvSpPr>
        <p:spPr>
          <a:xfrm>
            <a:off x="10883900" y="46627143"/>
            <a:ext cx="10991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i="1" dirty="0">
                <a:latin typeface="Manrope" pitchFamily="2" charset="0"/>
              </a:rPr>
              <a:t>поле для </a:t>
            </a:r>
            <a:r>
              <a:rPr lang="ru-RU" sz="3200" i="1" dirty="0" err="1">
                <a:latin typeface="Manrope" pitchFamily="2" charset="0"/>
              </a:rPr>
              <a:t>конктактных</a:t>
            </a:r>
            <a:r>
              <a:rPr lang="ru-RU" sz="3200" i="1" dirty="0">
                <a:latin typeface="Manrope" pitchFamily="2" charset="0"/>
              </a:rPr>
              <a:t> данных</a:t>
            </a:r>
          </a:p>
        </p:txBody>
      </p:sp>
    </p:spTree>
    <p:extLst>
      <p:ext uri="{BB962C8B-B14F-4D97-AF65-F5344CB8AC3E}">
        <p14:creationId xmlns:p14="http://schemas.microsoft.com/office/powerpoint/2010/main" val="412742071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6984</TotalTime>
  <Words>1057</Words>
  <Application>Microsoft Office PowerPoint</Application>
  <PresentationFormat>Произвольный</PresentationFormat>
  <Paragraphs>189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</vt:i4>
      </vt:variant>
    </vt:vector>
  </HeadingPairs>
  <TitlesOfParts>
    <vt:vector size="13" baseType="lpstr">
      <vt:lpstr>Arial</vt:lpstr>
      <vt:lpstr>Bahnschrift</vt:lpstr>
      <vt:lpstr>Calibri</vt:lpstr>
      <vt:lpstr>Calibri Light</vt:lpstr>
      <vt:lpstr>Cambria Math</vt:lpstr>
      <vt:lpstr>DM Sans</vt:lpstr>
      <vt:lpstr>Manrope</vt:lpstr>
      <vt:lpstr>Montserrat SemiBold</vt:lpstr>
      <vt:lpstr>Times New Roman</vt:lpstr>
      <vt:lpstr>Специальное оформление</vt:lpstr>
      <vt:lpstr>Тема Office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Roman Dubinin</dc:creator>
  <cp:lastModifiedBy>Roman Dubinin</cp:lastModifiedBy>
  <cp:revision>115</cp:revision>
  <dcterms:created xsi:type="dcterms:W3CDTF">2025-10-24T10:34:33Z</dcterms:created>
  <dcterms:modified xsi:type="dcterms:W3CDTF">2026-04-27T12:51:31Z</dcterms:modified>
</cp:coreProperties>
</file>